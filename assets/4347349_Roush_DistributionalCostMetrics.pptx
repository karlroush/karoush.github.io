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sldIdLst>
    <p:sldId id="256" r:id="rId5"/>
    <p:sldId id="299" r:id="rId6"/>
    <p:sldId id="287" r:id="rId7"/>
    <p:sldId id="301" r:id="rId8"/>
    <p:sldId id="300" r:id="rId9"/>
    <p:sldId id="302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3" r:id="rId19"/>
    <p:sldId id="271" r:id="rId20"/>
    <p:sldId id="298" r:id="rId21"/>
    <p:sldId id="281" r:id="rId22"/>
    <p:sldId id="286" r:id="rId23"/>
    <p:sldId id="28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189B4F61-1F15-A84B-8759-69E5D97D54C1}">
          <p14:sldIdLst>
            <p14:sldId id="256"/>
            <p14:sldId id="299"/>
          </p14:sldIdLst>
        </p14:section>
        <p14:section name="Content (15m)" id="{0070E32B-0ABC-43E5-95CD-A0BBD79D71F1}">
          <p14:sldIdLst>
            <p14:sldId id="287"/>
            <p14:sldId id="301"/>
            <p14:sldId id="300"/>
            <p14:sldId id="302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3"/>
          </p14:sldIdLst>
        </p14:section>
        <p14:section name="Questions (5m)" id="{D27E45AF-7709-4421-86AD-3A43F90DCF0E}">
          <p14:sldIdLst>
            <p14:sldId id="271"/>
          </p14:sldIdLst>
        </p14:section>
        <p14:section name="Appendix" id="{596002A6-1985-4485-B7C4-637CEEE602E9}">
          <p14:sldIdLst>
            <p14:sldId id="298"/>
            <p14:sldId id="281"/>
            <p14:sldId id="286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82C"/>
    <a:srgbClr val="286291"/>
    <a:srgbClr val="387198"/>
    <a:srgbClr val="3D7AA5"/>
    <a:srgbClr val="1A3C6D"/>
    <a:srgbClr val="0000FF"/>
    <a:srgbClr val="000000"/>
    <a:srgbClr val="FFFFFF"/>
    <a:srgbClr val="F1B82D"/>
    <a:srgbClr val="65A6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44"/>
    <p:restoredTop sz="94694"/>
  </p:normalViewPr>
  <p:slideViewPr>
    <p:cSldViewPr snapToGrid="0">
      <p:cViewPr varScale="1">
        <p:scale>
          <a:sx n="105" d="100"/>
          <a:sy n="105" d="100"/>
        </p:scale>
        <p:origin x="31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E785E-3AA0-3642-AE53-DF58CAF3740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2D1A7-0F1D-4A40-88F4-52C9023A44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533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gradFill>
          <a:gsLst>
            <a:gs pos="0">
              <a:schemeClr val="accent2"/>
            </a:gs>
            <a:gs pos="6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C7F35EF-1610-E5B0-B764-FC143C8BAA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8A0025-EFEF-20BF-C80C-85AC36F306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607" y="637104"/>
            <a:ext cx="1771864" cy="111586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A0A17DC-774F-3210-530A-47E7C3473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55742"/>
            <a:ext cx="8017682" cy="2445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80000"/>
              </a:lnSpc>
              <a:defRPr sz="6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8F0EC-82D2-3C68-E213-5327A1828CFA}"/>
              </a:ext>
            </a:extLst>
          </p:cNvPr>
          <p:cNvSpPr txBox="1"/>
          <p:nvPr userDrawn="1"/>
        </p:nvSpPr>
        <p:spPr>
          <a:xfrm>
            <a:off x="831850" y="6492875"/>
            <a:ext cx="46166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i="0">
                <a:solidFill>
                  <a:schemeClr val="bg1"/>
                </a:solidFill>
                <a:latin typeface="Figtree SemiBold" pitchFamily="2" charset="0"/>
              </a:rPr>
              <a:t>aiaa.org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BBBDC11-29FC-667E-0F89-DBB03CF05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17002"/>
            <a:ext cx="8017682" cy="4976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246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Navy)">
    <p:bg>
      <p:bgPr>
        <a:gradFill>
          <a:gsLst>
            <a:gs pos="0">
              <a:schemeClr val="accent2"/>
            </a:gs>
            <a:gs pos="6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0E47ED36-DE2D-02CA-3151-94658797C7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6125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63371"/>
            <a:ext cx="10515600" cy="777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56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Blue)">
    <p:bg>
      <p:bgPr>
        <a:gradFill>
          <a:gsLst>
            <a:gs pos="0">
              <a:schemeClr val="tx2"/>
            </a:gs>
            <a:gs pos="52000">
              <a:schemeClr val="accent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73C2AF56-22FA-B24C-961E-DCF6032B05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6125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63371"/>
            <a:ext cx="10515600" cy="777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92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Plum)">
    <p:bg>
      <p:bgPr>
        <a:gradFill>
          <a:gsLst>
            <a:gs pos="0">
              <a:schemeClr val="accent2"/>
            </a:gs>
            <a:gs pos="60000">
              <a:schemeClr val="accent3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D2903859-44FB-9388-776B-28F8C4D425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6125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63371"/>
            <a:ext cx="10515600" cy="777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Gold)">
    <p:bg>
      <p:bgPr>
        <a:gradFill>
          <a:gsLst>
            <a:gs pos="0">
              <a:schemeClr val="accent6"/>
            </a:gs>
            <a:gs pos="54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D7892FEC-EC22-36F7-8617-D9A1153851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6125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tx2">
                    <a:lumMod val="50000"/>
                  </a:schemeClr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63371"/>
            <a:ext cx="10515600" cy="777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tx2">
                    <a:lumMod val="50000"/>
                  </a:schemeClr>
                </a:solidFill>
                <a:latin typeface="Figtre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7073A5-C96D-7387-F371-CC85F5ECE004}"/>
              </a:ext>
            </a:extLst>
          </p:cNvPr>
          <p:cNvCxnSpPr>
            <a:cxnSpLocks/>
          </p:cNvCxnSpPr>
          <p:nvPr userDrawn="1"/>
        </p:nvCxnSpPr>
        <p:spPr>
          <a:xfrm>
            <a:off x="0" y="6276814"/>
            <a:ext cx="12192000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153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Green)">
    <p:bg>
      <p:bgPr>
        <a:gradFill>
          <a:gsLst>
            <a:gs pos="0">
              <a:schemeClr val="accent2"/>
            </a:gs>
            <a:gs pos="54000">
              <a:schemeClr val="accent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F8558375-69BD-2093-A170-A82E307F81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6125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63371"/>
            <a:ext cx="10515600" cy="777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573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Orange)">
    <p:bg>
      <p:bgPr>
        <a:gradFill>
          <a:gsLst>
            <a:gs pos="0">
              <a:schemeClr val="accent3"/>
            </a:gs>
            <a:gs pos="5400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04F190B7-3ED6-8872-7F8C-4E5A01527E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6125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63371"/>
            <a:ext cx="10515600" cy="777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FCAF999-FEB3-67E0-72A0-500A97154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20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6009C2D0-8476-5C7C-3698-64F13A93B8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D38FA1-D8E9-0B4D-6720-EFD5DD0BA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97" y="365125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3389C-B1D7-C694-57D5-6C711FC19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257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 dirty="0" err="1"/>
              <a:t>Click</a:t>
            </a:r>
            <a:r>
              <a:rPr lang="en-US" dirty="0"/>
              <a:t>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C3EAA-1CA5-FCD9-354C-BC491AF3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7D6499-7F82-8950-61E9-B99B5A5DBC7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94F72188-A0A9-5F3A-CF20-6B8F5FE585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228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Blue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2" y="0"/>
            <a:ext cx="6862618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ABE42761-35EA-CA25-0900-63712C3225FA}"/>
              </a:ext>
            </a:extLst>
          </p:cNvPr>
          <p:cNvSpPr/>
          <p:nvPr userDrawn="1"/>
        </p:nvSpPr>
        <p:spPr>
          <a:xfrm>
            <a:off x="4830121" y="-4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2"/>
              </a:gs>
              <a:gs pos="90000">
                <a:schemeClr val="tx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16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Plum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2" y="0"/>
            <a:ext cx="6862618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>
            <a:extLst>
              <a:ext uri="{FF2B5EF4-FFF2-40B4-BE49-F238E27FC236}">
                <a16:creationId xmlns:a16="http://schemas.microsoft.com/office/drawing/2014/main" id="{5673909B-51BC-79F1-247B-509034849961}"/>
              </a:ext>
            </a:extLst>
          </p:cNvPr>
          <p:cNvSpPr/>
          <p:nvPr userDrawn="1"/>
        </p:nvSpPr>
        <p:spPr>
          <a:xfrm>
            <a:off x="4830121" y="-8624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5000">
                <a:schemeClr val="accent3"/>
              </a:gs>
              <a:gs pos="8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Gold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2" y="0"/>
            <a:ext cx="6862618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>
            <a:extLst>
              <a:ext uri="{FF2B5EF4-FFF2-40B4-BE49-F238E27FC236}">
                <a16:creationId xmlns:a16="http://schemas.microsoft.com/office/drawing/2014/main" id="{2FFD7DA3-43D8-D09F-83E0-0AEAB25439B7}"/>
              </a:ext>
            </a:extLst>
          </p:cNvPr>
          <p:cNvSpPr/>
          <p:nvPr userDrawn="1"/>
        </p:nvSpPr>
        <p:spPr>
          <a:xfrm>
            <a:off x="4830121" y="-4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52000">
                <a:schemeClr val="accent4"/>
              </a:gs>
              <a:gs pos="9000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96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Green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2" y="0"/>
            <a:ext cx="6862618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>
            <a:extLst>
              <a:ext uri="{FF2B5EF4-FFF2-40B4-BE49-F238E27FC236}">
                <a16:creationId xmlns:a16="http://schemas.microsoft.com/office/drawing/2014/main" id="{FC5B0D56-4627-AC4F-11C1-0BC865D7A1E5}"/>
              </a:ext>
            </a:extLst>
          </p:cNvPr>
          <p:cNvSpPr/>
          <p:nvPr userDrawn="1"/>
        </p:nvSpPr>
        <p:spPr>
          <a:xfrm>
            <a:off x="4830121" y="-5"/>
            <a:ext cx="3566904" cy="6858005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4000">
                <a:schemeClr val="accent5"/>
              </a:gs>
              <a:gs pos="81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88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Gold (Oran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2" y="0"/>
            <a:ext cx="6862618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>
            <a:extLst>
              <a:ext uri="{FF2B5EF4-FFF2-40B4-BE49-F238E27FC236}">
                <a16:creationId xmlns:a16="http://schemas.microsoft.com/office/drawing/2014/main" id="{8CECBD81-6D94-EBB2-5099-28510DA055F7}"/>
              </a:ext>
            </a:extLst>
          </p:cNvPr>
          <p:cNvSpPr/>
          <p:nvPr userDrawn="1"/>
        </p:nvSpPr>
        <p:spPr>
          <a:xfrm>
            <a:off x="4830121" y="-4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6"/>
              </a:gs>
              <a:gs pos="87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8691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Visual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piral galaxy in space&#10;&#10;AI-generated content may be incorrect.">
            <a:extLst>
              <a:ext uri="{FF2B5EF4-FFF2-40B4-BE49-F238E27FC236}">
                <a16:creationId xmlns:a16="http://schemas.microsoft.com/office/drawing/2014/main" id="{B4257FEA-E4BB-4184-2551-6E913CF483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2"/>
            <a:ext cx="12192001" cy="685800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97A2759-5262-98FC-2BA1-75A1A11F3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97" y="365125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4013314-73E8-EBCE-C957-B401AB4F5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257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 dirty="0" err="1"/>
              <a:t>Click</a:t>
            </a:r>
            <a:r>
              <a:rPr lang="en-US" dirty="0"/>
              <a:t>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4000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Visual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sky with stars&#10;&#10;AI-generated content may be incorrect.">
            <a:extLst>
              <a:ext uri="{FF2B5EF4-FFF2-40B4-BE49-F238E27FC236}">
                <a16:creationId xmlns:a16="http://schemas.microsoft.com/office/drawing/2014/main" id="{58E6D3C4-DD7C-11D1-CC5C-C7C19C2E03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65488" cy="685800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4B291A-88AF-2996-D687-D14BAEE37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0752B1A-76E1-75DA-9E43-9F36E6609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97" y="365125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A605919-F812-D6B7-6733-93A21095D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257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 dirty="0" err="1"/>
              <a:t>Click</a:t>
            </a:r>
            <a:r>
              <a:rPr lang="en-US" dirty="0"/>
              <a:t>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30635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Visual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n astronaut floating in space&#10;&#10;AI-generated content may be incorrect.">
            <a:extLst>
              <a:ext uri="{FF2B5EF4-FFF2-40B4-BE49-F238E27FC236}">
                <a16:creationId xmlns:a16="http://schemas.microsoft.com/office/drawing/2014/main" id="{9DA1DE89-B1B4-0B78-BA7D-98605CF2B4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29483" y="-1"/>
            <a:ext cx="6962517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4B291A-88AF-2996-D687-D14BAEE37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343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Visual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planet with a bright light&#10;&#10;AI-generated content may be incorrect.">
            <a:extLst>
              <a:ext uri="{FF2B5EF4-FFF2-40B4-BE49-F238E27FC236}">
                <a16:creationId xmlns:a16="http://schemas.microsoft.com/office/drawing/2014/main" id="{5928C9F9-2416-28F6-1432-DDAFD45C88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7712" y="-1"/>
            <a:ext cx="6874288" cy="68533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4B291A-88AF-2996-D687-D14BAEE37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4893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728F9DD8-18B8-E17F-4A81-93C4DD68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97" y="365125"/>
            <a:ext cx="11491993" cy="120795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4E2FE70-C1DA-31EB-EEA3-F73AC1A92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F8F2ECD-EA50-2550-0B02-4B2C95344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53AC61-82C3-E5FF-66C1-161CB2EFC3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94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824F201-E457-E817-0DA2-9E61ACCA7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EDE1051-0FED-5451-0D36-8DE7C56B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95D178-B3AE-EA2C-9A08-EB6D085096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7487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5752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Blue">
    <p:bg>
      <p:bgPr>
        <a:gradFill>
          <a:gsLst>
            <a:gs pos="0">
              <a:schemeClr val="accent2"/>
            </a:gs>
            <a:gs pos="54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20091"/>
          <a:stretch/>
        </p:blipFill>
        <p:spPr>
          <a:xfrm>
            <a:off x="5897660" y="456716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4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28" y="1831753"/>
            <a:ext cx="1348751" cy="1039037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9FD9171-277F-DDF9-1325-B01478A34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F502D63-98F2-0192-9694-5687D8D0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622538-DB89-0185-9E98-C8D31813769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F0FF596D-CC26-E4B0-EC5C-182E1E7E40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155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Plum">
    <p:bg>
      <p:bgPr>
        <a:gradFill>
          <a:gsLst>
            <a:gs pos="0">
              <a:schemeClr val="accent2"/>
            </a:gs>
            <a:gs pos="54000">
              <a:schemeClr val="accent3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20091"/>
          <a:stretch/>
        </p:blipFill>
        <p:spPr>
          <a:xfrm>
            <a:off x="5897660" y="456716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4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28" y="1831753"/>
            <a:ext cx="1348751" cy="103903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4622215-CDBD-8F81-E9EA-A31736F27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E1CE688-D74E-8D3C-C8FB-273D2044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6F17F2-AAEF-FEEE-FEB8-8DF375D781F2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E6E5B02-D478-7B84-9936-C8A086849F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959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Gold">
    <p:bg>
      <p:bgPr>
        <a:gradFill>
          <a:gsLst>
            <a:gs pos="0">
              <a:schemeClr val="accent6"/>
            </a:gs>
            <a:gs pos="54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20091"/>
          <a:stretch/>
        </p:blipFill>
        <p:spPr>
          <a:xfrm>
            <a:off x="5897660" y="456716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4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28" y="1831753"/>
            <a:ext cx="1348751" cy="103903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5A297F6-6D91-6866-9EAE-725714B7E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EFF9B6A-2657-DE51-519D-1E20B3FDA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D89207-345D-F496-AF0B-592807269139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7A89A59-A76B-D96F-9CE2-1086D4C06B3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1028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Green">
    <p:bg>
      <p:bgPr>
        <a:gradFill>
          <a:gsLst>
            <a:gs pos="0">
              <a:schemeClr val="accent2"/>
            </a:gs>
            <a:gs pos="54000">
              <a:schemeClr val="accent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20091"/>
          <a:stretch/>
        </p:blipFill>
        <p:spPr>
          <a:xfrm>
            <a:off x="5897660" y="456716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4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28" y="1831753"/>
            <a:ext cx="1348751" cy="103903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9E71E1C-E08F-F30E-182A-6072F71D2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507A87D-5CC5-BF86-C0AA-3E1DDCEA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BBC947-4C17-284C-CC69-494D42DEE5CC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7BA6484-6E55-DD5F-9E5D-1E9FEF47CF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755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Orange">
    <p:bg>
      <p:bgPr>
        <a:gradFill>
          <a:gsLst>
            <a:gs pos="0">
              <a:schemeClr val="accent3"/>
            </a:gs>
            <a:gs pos="5400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20091"/>
          <a:stretch/>
        </p:blipFill>
        <p:spPr>
          <a:xfrm>
            <a:off x="5897660" y="456716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4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28" y="1831753"/>
            <a:ext cx="1348751" cy="103903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94F4E8A-4281-3DD1-D18E-F1D01CE4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260A482-67B1-88FD-50A7-98D6A2DC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334E67-BF46-822A-CDA7-B19153C5567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7922417-E2C6-1B89-E477-CE2A211BCE6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525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CDF5FA7B-72FB-B64A-A69A-D4755A1858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8" r="7548" b="33468"/>
          <a:stretch/>
        </p:blipFill>
        <p:spPr>
          <a:xfrm>
            <a:off x="5897660" y="1502250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D38FA1-D8E9-0B4D-6720-EFD5DD0BA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97" y="365125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3389C-B1D7-C694-57D5-6C711FC19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257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 dirty="0" err="1"/>
              <a:t>Click</a:t>
            </a:r>
            <a:r>
              <a:rPr lang="en-US" dirty="0"/>
              <a:t>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355BC-998E-5A09-3C72-65E885D3B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C3EAA-1CA5-FCD9-354C-BC491AF3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7D6499-7F82-8950-61E9-B99B5A5DBC7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blue and black logo&#10;&#10;AI-generated content may be incorrect.">
            <a:extLst>
              <a:ext uri="{FF2B5EF4-FFF2-40B4-BE49-F238E27FC236}">
                <a16:creationId xmlns:a16="http://schemas.microsoft.com/office/drawing/2014/main" id="{94F72188-A0A9-5F3A-CF20-6B8F5FE585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5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2" cy="685800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7B69F9-398F-2D7E-E260-B1CEDB7E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  <p:sp>
        <p:nvSpPr>
          <p:cNvPr id="17" name="Freeform 16">
            <a:extLst>
              <a:ext uri="{FF2B5EF4-FFF2-40B4-BE49-F238E27FC236}">
                <a16:creationId xmlns:a16="http://schemas.microsoft.com/office/drawing/2014/main" id="{43C4FB2F-E7D0-EBC7-4DDB-6CC86298818F}"/>
              </a:ext>
            </a:extLst>
          </p:cNvPr>
          <p:cNvSpPr/>
          <p:nvPr userDrawn="1"/>
        </p:nvSpPr>
        <p:spPr>
          <a:xfrm>
            <a:off x="4809511" y="-5"/>
            <a:ext cx="3605100" cy="6858005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2"/>
              </a:gs>
              <a:gs pos="90000">
                <a:schemeClr val="tx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827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2" cy="6857996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7B69F9-398F-2D7E-E260-B1CEDB7E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63078809-296D-371D-64D3-36C8022650B2}"/>
              </a:ext>
            </a:extLst>
          </p:cNvPr>
          <p:cNvSpPr/>
          <p:nvPr userDrawn="1"/>
        </p:nvSpPr>
        <p:spPr>
          <a:xfrm>
            <a:off x="4847709" y="-5"/>
            <a:ext cx="3566902" cy="6858001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5000">
                <a:schemeClr val="accent3"/>
              </a:gs>
              <a:gs pos="8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0743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2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7B69F9-398F-2D7E-E260-B1CEDB7E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F06610B9-8C48-9789-3124-8DB88AA039B6}"/>
              </a:ext>
            </a:extLst>
          </p:cNvPr>
          <p:cNvSpPr/>
          <p:nvPr userDrawn="1"/>
        </p:nvSpPr>
        <p:spPr>
          <a:xfrm>
            <a:off x="4855811" y="-5"/>
            <a:ext cx="35588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52000">
                <a:schemeClr val="accent4"/>
              </a:gs>
              <a:gs pos="9000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258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13820" y="0"/>
            <a:ext cx="6891342" cy="6868957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7B69F9-398F-2D7E-E260-B1CEDB7E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CB73E4F5-5916-13A5-64C5-8C77558117BD}"/>
              </a:ext>
            </a:extLst>
          </p:cNvPr>
          <p:cNvSpPr/>
          <p:nvPr userDrawn="1"/>
        </p:nvSpPr>
        <p:spPr>
          <a:xfrm>
            <a:off x="4809511" y="-5"/>
            <a:ext cx="36051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4000">
                <a:schemeClr val="accent5"/>
              </a:gs>
              <a:gs pos="81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8100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2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7B69F9-398F-2D7E-E260-B1CEDB7E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CFD3A720-686E-513F-0664-2531C8B0201E}"/>
              </a:ext>
            </a:extLst>
          </p:cNvPr>
          <p:cNvSpPr/>
          <p:nvPr userDrawn="1"/>
        </p:nvSpPr>
        <p:spPr>
          <a:xfrm>
            <a:off x="4809511" y="-5"/>
            <a:ext cx="36051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6"/>
              </a:gs>
              <a:gs pos="87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963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E160181-F020-3F03-9EDF-F40CFE13B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CCF58C-6D75-29B7-7B8C-B7760824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lue and black logo&#10;&#10;AI-generated content may be incorrect.">
            <a:extLst>
              <a:ext uri="{FF2B5EF4-FFF2-40B4-BE49-F238E27FC236}">
                <a16:creationId xmlns:a16="http://schemas.microsoft.com/office/drawing/2014/main" id="{2FEB4F50-7FD4-5B00-02DD-264E75D45C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28F9DD8-18B8-E17F-4A81-93C4DD68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97" y="365125"/>
            <a:ext cx="11491993" cy="120795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383808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E160181-F020-3F03-9EDF-F40CFE13B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CCF58C-6D75-29B7-7B8C-B7760824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lue and black logo&#10;&#10;AI-generated content may be incorrect.">
            <a:extLst>
              <a:ext uri="{FF2B5EF4-FFF2-40B4-BE49-F238E27FC236}">
                <a16:creationId xmlns:a16="http://schemas.microsoft.com/office/drawing/2014/main" id="{2FEB4F50-7FD4-5B00-02DD-264E75D45C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6941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8419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gradFill>
          <a:gsLst>
            <a:gs pos="0">
              <a:schemeClr val="accent2"/>
            </a:gs>
            <a:gs pos="54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C7F35EF-1610-E5B0-B764-FC143C8BAA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8A0025-EFEF-20BF-C80C-85AC36F306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607" y="637104"/>
            <a:ext cx="1771864" cy="11158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48F0EC-82D2-3C68-E213-5327A1828CFA}"/>
              </a:ext>
            </a:extLst>
          </p:cNvPr>
          <p:cNvSpPr txBox="1"/>
          <p:nvPr userDrawn="1"/>
        </p:nvSpPr>
        <p:spPr>
          <a:xfrm>
            <a:off x="831850" y="6492875"/>
            <a:ext cx="46166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i="0">
                <a:solidFill>
                  <a:schemeClr val="bg1"/>
                </a:solidFill>
                <a:latin typeface="Figtree SemiBold" pitchFamily="2" charset="0"/>
              </a:rPr>
              <a:t>aiaa.org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74F01-5FF3-D372-A30F-3AA70A84088C}"/>
              </a:ext>
            </a:extLst>
          </p:cNvPr>
          <p:cNvSpPr txBox="1"/>
          <p:nvPr userDrawn="1"/>
        </p:nvSpPr>
        <p:spPr>
          <a:xfrm>
            <a:off x="777607" y="4118432"/>
            <a:ext cx="4456348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200" b="1" i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3404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4B9CDF1-F933-DFA5-6E10-DBF77CE5B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093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1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5" r:id="rId8"/>
    <p:sldLayoutId id="2147483676" r:id="rId9"/>
    <p:sldLayoutId id="2147483692" r:id="rId10"/>
    <p:sldLayoutId id="2147483693" r:id="rId11"/>
    <p:sldLayoutId id="2147483694" r:id="rId12"/>
    <p:sldLayoutId id="2147483695" r:id="rId13"/>
    <p:sldLayoutId id="2147483688" r:id="rId14"/>
    <p:sldLayoutId id="2147483689" r:id="rId15"/>
    <p:sldLayoutId id="2147483690" r:id="rId16"/>
    <p:sldLayoutId id="2147483691" r:id="rId17"/>
    <p:sldLayoutId id="2147483681" r:id="rId18"/>
    <p:sldLayoutId id="2147483682" r:id="rId19"/>
    <p:sldLayoutId id="2147483683" r:id="rId20"/>
    <p:sldLayoutId id="2147483655" r:id="rId21"/>
    <p:sldLayoutId id="2147483684" r:id="rId22"/>
    <p:sldLayoutId id="2147483685" r:id="rId23"/>
    <p:sldLayoutId id="2147483686" r:id="rId24"/>
    <p:sldLayoutId id="2147483687" r:id="rId25"/>
    <p:sldLayoutId id="2147483650" r:id="rId26"/>
    <p:sldLayoutId id="2147483657" r:id="rId27"/>
    <p:sldLayoutId id="2147483696" r:id="rId28"/>
    <p:sldLayoutId id="2147483697" r:id="rId29"/>
    <p:sldLayoutId id="2147483698" r:id="rId30"/>
    <p:sldLayoutId id="2147483699" r:id="rId31"/>
    <p:sldLayoutId id="2147483654" r:id="rId32"/>
    <p:sldLayoutId id="2147483668" r:id="rId33"/>
    <p:sldLayoutId id="2147483669" r:id="rId34"/>
    <p:sldLayoutId id="2147483674" r:id="rId3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19A16-725D-689E-3105-16AC6191C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40998"/>
            <a:ext cx="12192000" cy="2445200"/>
          </a:xfrm>
        </p:spPr>
        <p:txBody>
          <a:bodyPr/>
          <a:lstStyle/>
          <a:p>
            <a:pPr algn="ctr"/>
            <a:r>
              <a:rPr lang="en-US" sz="3600" dirty="0"/>
              <a:t> Characterizing Aerospace Cost Estimate Dynamics: Distributional Metrics for Contextualizing Outcome Variability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DA4B5-0240-777F-5A8A-84C0A116B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788538"/>
            <a:ext cx="12192000" cy="244520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Karl Roush</a:t>
            </a:r>
          </a:p>
          <a:p>
            <a:pPr algn="ctr"/>
            <a:r>
              <a:rPr lang="en-US" b="1" dirty="0"/>
              <a:t>Georgia Institute of Technology</a:t>
            </a:r>
          </a:p>
          <a:p>
            <a:pPr algn="ctr"/>
            <a:r>
              <a:rPr lang="en-US" dirty="0"/>
              <a:t>AIAA SciTech Forum [DE-12/DGE-09], 12-16 Jan 2026</a:t>
            </a:r>
          </a:p>
          <a:p>
            <a:pPr algn="ctr"/>
            <a:endParaRPr lang="en-US" dirty="0"/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Copyright © by Karl Roush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Published by the American Institute of Aeronautics and Astronautics, Inc., with permission.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067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6459E5-9D24-3331-A3FE-9AB685DD5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56CC5-030C-BE76-C858-F6F7C3953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AC923-9B2F-D399-B82C-63366455E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2200" b="1" dirty="0">
                <a:solidFill>
                  <a:schemeClr val="accent4"/>
                </a:solidFill>
                <a:latin typeface="Figtree SemiBold" pitchFamily="2" charset="0"/>
              </a:rPr>
              <a:t>FINAL ID: AIAA-2026-1525 (Control ID: 4347349)</a:t>
            </a:r>
          </a:p>
          <a:p>
            <a:pPr>
              <a:spcAft>
                <a:spcPts val="600"/>
              </a:spcAft>
            </a:pPr>
            <a:r>
              <a:rPr lang="en-US" b="1" dirty="0">
                <a:latin typeface="Figtree SemiBold" pitchFamily="2" charset="0"/>
              </a:rPr>
              <a:t>Session: </a:t>
            </a:r>
            <a:r>
              <a:rPr lang="en-US" dirty="0">
                <a:latin typeface="Figtree SemiBold" pitchFamily="2" charset="0"/>
              </a:rPr>
              <a:t>DE-12/DGE-09, Emerging Design Methods and Digital Ecosystems</a:t>
            </a:r>
            <a:br>
              <a:rPr lang="en-US" b="1" dirty="0">
                <a:latin typeface="Figtree SemiBold" pitchFamily="2" charset="0"/>
              </a:rPr>
            </a:br>
            <a:r>
              <a:rPr lang="en-US" b="1" dirty="0">
                <a:latin typeface="Figtree SemiBold" pitchFamily="2" charset="0"/>
              </a:rPr>
              <a:t>Scheduled: </a:t>
            </a:r>
            <a:r>
              <a:rPr lang="en-US" dirty="0">
                <a:latin typeface="Figtree SemiBold" pitchFamily="2" charset="0"/>
              </a:rPr>
              <a:t>January 14, 2026 from 1:00 PM to 3:00 PM Eastern Time, in room </a:t>
            </a:r>
            <a:r>
              <a:rPr lang="en-US" dirty="0" err="1">
                <a:latin typeface="Figtree SemiBold" pitchFamily="2" charset="0"/>
              </a:rPr>
              <a:t>Bayhill</a:t>
            </a:r>
            <a:r>
              <a:rPr lang="en-US" dirty="0">
                <a:latin typeface="Figtree SemiBold" pitchFamily="2" charset="0"/>
              </a:rPr>
              <a:t> 23 </a:t>
            </a:r>
          </a:p>
          <a:p>
            <a:pPr>
              <a:spcAft>
                <a:spcPts val="600"/>
              </a:spcAft>
            </a:pPr>
            <a:r>
              <a:rPr lang="en-US" b="1" dirty="0">
                <a:latin typeface="Figtree SemiBold" pitchFamily="2" charset="0"/>
              </a:rPr>
              <a:t>Presentation Time: </a:t>
            </a:r>
            <a:r>
              <a:rPr lang="en-US" dirty="0">
                <a:latin typeface="Figtree SemiBold" pitchFamily="2" charset="0"/>
              </a:rPr>
              <a:t>1:20 PM to 1:40 PM</a:t>
            </a:r>
            <a:br>
              <a:rPr lang="en-US" b="1" dirty="0">
                <a:latin typeface="Figtree SemiBold" pitchFamily="2" charset="0"/>
              </a:rPr>
            </a:br>
            <a:r>
              <a:rPr lang="en-US" b="1" dirty="0">
                <a:latin typeface="Figtree SemiBold" pitchFamily="2" charset="0"/>
              </a:rPr>
              <a:t>Presentation Duration: </a:t>
            </a:r>
            <a:r>
              <a:rPr lang="en-US" dirty="0">
                <a:latin typeface="Figtree SemiBold" pitchFamily="2" charset="0"/>
              </a:rPr>
              <a:t>20 minutes (reserve the last 5 minutes for questions and answers)</a:t>
            </a:r>
          </a:p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CB0336-F9AB-0DCE-E1C9-E09DC65E6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375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DDC06-33A1-5D8F-06E7-B28DDBF46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Challenges of Cost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6900A-46B5-E61F-8817-1C6B601BC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51176"/>
            <a:ext cx="4686701" cy="340017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2200" b="1" dirty="0">
                <a:solidFill>
                  <a:schemeClr val="accent4"/>
                </a:solidFill>
                <a:latin typeface="Figtree SemiBold" pitchFamily="2" charset="0"/>
              </a:rPr>
              <a:t>The Reality</a:t>
            </a:r>
          </a:p>
          <a:p>
            <a:r>
              <a:rPr lang="en-US" b="1" dirty="0">
                <a:latin typeface="Figtree SemiBold" pitchFamily="2" charset="0"/>
              </a:rPr>
              <a:t>A cost estimate is a range of values that reflect the uncertainty and variability of a project.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Scope, inflation rates, execution,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Represents a </a:t>
            </a:r>
            <a:r>
              <a:rPr lang="en-US" i="1" dirty="0"/>
              <a:t>distribution </a:t>
            </a:r>
            <a:r>
              <a:rPr lang="en-US" dirty="0"/>
              <a:t>of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Well understood, but conveying the extent of these models is often overlooked [1]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3C3FE9A-5939-B295-4ABB-6F829F44EEA7}"/>
              </a:ext>
            </a:extLst>
          </p:cNvPr>
          <p:cNvSpPr txBox="1">
            <a:spLocks/>
          </p:cNvSpPr>
          <p:nvPr/>
        </p:nvSpPr>
        <p:spPr>
          <a:xfrm>
            <a:off x="6274870" y="2551176"/>
            <a:ext cx="4686701" cy="340017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2200" b="1" dirty="0">
                <a:solidFill>
                  <a:schemeClr val="accent4"/>
                </a:solidFill>
                <a:latin typeface="Figtree SemiBold" pitchFamily="2" charset="0"/>
              </a:rPr>
              <a:t>The Problem</a:t>
            </a:r>
          </a:p>
          <a:p>
            <a:r>
              <a:rPr lang="en-US" b="1" dirty="0">
                <a:latin typeface="Figtree SemiBold" pitchFamily="2" charset="0"/>
              </a:rPr>
              <a:t>Traditional metrics fail to capture the complexity of potential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Min, max,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about rare, impactful (outlier) events?</a:t>
            </a:r>
            <a:br>
              <a:rPr lang="en-US" dirty="0"/>
            </a:br>
            <a:r>
              <a:rPr lang="en-US" i="1" dirty="0"/>
              <a:t>E.g. COVID-19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Outliers are more common in long-duration programs/projects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4981D34-DC19-4356-1573-C9C29E0D2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699AC5-FD69-52FD-AC4D-5ABD86F1382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55181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2000" b="1" dirty="0">
                <a:latin typeface="Figtree SemiBold" pitchFamily="2" charset="0"/>
              </a:rPr>
              <a:t>Cost estimates are fundamental to project planning, approval, and feasibility assessments.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72823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C70A29-C03B-FEDE-ACC4-1C61D74527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28924" y="1892808"/>
            <a:ext cx="6942397" cy="2758936"/>
          </a:xfrm>
        </p:spPr>
        <p:txBody>
          <a:bodyPr/>
          <a:lstStyle/>
          <a:p>
            <a:pPr>
              <a:spcBef>
                <a:spcPts val="1600"/>
              </a:spcBef>
            </a:pPr>
            <a:r>
              <a:rPr lang="en-US" i="1" dirty="0"/>
              <a:t>How can the dynamic nature of cost estimates be communicated to account for rare events and the diversity of potential outcomes?</a:t>
            </a:r>
            <a:r>
              <a:rPr lang="en-US" dirty="0"/>
              <a:t>”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AC53B1D-D70F-D560-630E-77F09481F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241DD7F-8318-E3B6-2B80-469443383EC8}"/>
              </a:ext>
            </a:extLst>
          </p:cNvPr>
          <p:cNvSpPr txBox="1">
            <a:spLocks/>
          </p:cNvSpPr>
          <p:nvPr/>
        </p:nvSpPr>
        <p:spPr>
          <a:xfrm>
            <a:off x="343597" y="365125"/>
            <a:ext cx="11491993" cy="116920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Rephrased as a research question:</a:t>
            </a:r>
          </a:p>
        </p:txBody>
      </p:sp>
    </p:spTree>
    <p:extLst>
      <p:ext uri="{BB962C8B-B14F-4D97-AF65-F5344CB8AC3E}">
        <p14:creationId xmlns:p14="http://schemas.microsoft.com/office/powerpoint/2010/main" val="3922254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A76F2-4CC1-0E4A-3844-D5D711F92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89826-F6AD-5BAD-C2E5-AAC999E17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6356320" cy="1600200"/>
          </a:xfrm>
        </p:spPr>
        <p:txBody>
          <a:bodyPr/>
          <a:lstStyle/>
          <a:p>
            <a:r>
              <a:rPr lang="en-US" dirty="0"/>
              <a:t>Case Study: Space Shuttle Program (SSP)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33E2F7-1642-8718-6F8A-DCDBB8B3D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7" y="2425490"/>
            <a:ext cx="5065855" cy="361245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Large scale, long duration program with ample publicly available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Elements of the Space Shuttle Program continue to influence modern day programs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Three core elements of the study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</a:rPr>
              <a:t>Demonstrate the shortfalls of traditional metrics,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</a:rPr>
              <a:t>Propose supplemental options,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solidFill>
                  <a:srgbClr val="FFFFFF"/>
                </a:solidFill>
              </a:rPr>
              <a:t>Compare two sets of metrics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36FD0-246C-F3C1-3898-24F7831FF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86BEF0-3075-2FF2-7500-738EB6173DA4}"/>
              </a:ext>
            </a:extLst>
          </p:cNvPr>
          <p:cNvCxnSpPr>
            <a:cxnSpLocks/>
          </p:cNvCxnSpPr>
          <p:nvPr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13349F0-E000-ABDC-50FE-844BCDAAEB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8062" b="18062"/>
          <a:stretch>
            <a:fillRect/>
          </a:stretch>
        </p:blipFill>
        <p:spPr/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D20B61-A06B-6CDE-369A-95823676EFD9}"/>
              </a:ext>
            </a:extLst>
          </p:cNvPr>
          <p:cNvSpPr txBox="1"/>
          <p:nvPr/>
        </p:nvSpPr>
        <p:spPr>
          <a:xfrm>
            <a:off x="6300156" y="5140586"/>
            <a:ext cx="5780871" cy="1600200"/>
          </a:xfrm>
          <a:prstGeom prst="rect">
            <a:avLst/>
          </a:prstGeom>
          <a:solidFill>
            <a:srgbClr val="1A3C6D">
              <a:alpha val="74902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“The primary objective of the Space Shuttle Program (SSP) is to provide a new space transportation capability that will 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(a) reduce substantially the cost of space operations, and 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(b) prove a future capability designed to support a wide range of scientific, defense, and commercial uses.”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i="1" dirty="0">
                <a:solidFill>
                  <a:schemeClr val="bg1"/>
                </a:solidFill>
              </a:rPr>
              <a:t>Space Shuttle Program Request for Proposal No. 9-BC421-67-2-40P</a:t>
            </a:r>
          </a:p>
        </p:txBody>
      </p:sp>
    </p:spTree>
    <p:extLst>
      <p:ext uri="{BB962C8B-B14F-4D97-AF65-F5344CB8AC3E}">
        <p14:creationId xmlns:p14="http://schemas.microsoft.com/office/powerpoint/2010/main" val="119883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4DCA6-CAA3-FBCC-5046-C544EF8AC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B9154-E915-F781-3087-59B0FADFB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63E51-00EB-2B08-0282-3F81FE143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06740" cy="412572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2200" b="1" dirty="0">
                <a:solidFill>
                  <a:schemeClr val="accent4"/>
                </a:solidFill>
                <a:latin typeface="Figtree SemiBold" pitchFamily="2" charset="0"/>
              </a:rPr>
              <a:t>Creating a cost estimate for the SSP is beyond the scope of this paper, data from [3]</a:t>
            </a:r>
          </a:p>
          <a:p>
            <a:r>
              <a:rPr lang="en-US" b="1" dirty="0">
                <a:latin typeface="Figtree SemiBold" pitchFamily="2" charset="0"/>
              </a:rPr>
              <a:t>This estimate reconstructs a Work Breakdown Structure for the SSP within NASA’s parametric cost estimating tool </a:t>
            </a:r>
            <a:r>
              <a:rPr lang="en-US" b="1" i="1" dirty="0">
                <a:latin typeface="Figtree SemiBold" pitchFamily="2" charset="0"/>
              </a:rPr>
              <a:t>Project Cost Estimating Capability </a:t>
            </a:r>
            <a:r>
              <a:rPr lang="en-US" b="1" dirty="0">
                <a:latin typeface="Figtree SemiBold" pitchFamily="2" charset="0"/>
              </a:rPr>
              <a:t>(PCEC).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1282DA-3D58-758C-5EF7-E5D794725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576D5B-7F7E-606B-546F-AD909D7C10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624555"/>
              </p:ext>
            </p:extLst>
          </p:nvPr>
        </p:nvGraphicFramePr>
        <p:xfrm>
          <a:off x="343597" y="3366528"/>
          <a:ext cx="6344934" cy="2278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408">
                  <a:extLst>
                    <a:ext uri="{9D8B030D-6E8A-4147-A177-3AD203B41FA5}">
                      <a16:colId xmlns:a16="http://schemas.microsoft.com/office/drawing/2014/main" val="262760579"/>
                    </a:ext>
                  </a:extLst>
                </a:gridCol>
                <a:gridCol w="1754372">
                  <a:extLst>
                    <a:ext uri="{9D8B030D-6E8A-4147-A177-3AD203B41FA5}">
                      <a16:colId xmlns:a16="http://schemas.microsoft.com/office/drawing/2014/main" val="3909321196"/>
                    </a:ext>
                  </a:extLst>
                </a:gridCol>
                <a:gridCol w="3381154">
                  <a:extLst>
                    <a:ext uri="{9D8B030D-6E8A-4147-A177-3AD203B41FA5}">
                      <a16:colId xmlns:a16="http://schemas.microsoft.com/office/drawing/2014/main" val="1745358832"/>
                    </a:ext>
                  </a:extLst>
                </a:gridCol>
              </a:tblGrid>
              <a:tr h="35754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Figtree"/>
                        </a:rPr>
                        <a:t>Metric</a:t>
                      </a:r>
                      <a:endParaRPr lang="en-US" sz="1800" dirty="0">
                        <a:effectLst/>
                        <a:latin typeface="Figtree"/>
                      </a:endParaRPr>
                    </a:p>
                  </a:txBody>
                  <a:tcPr marL="62381" marR="62381" marT="26735" marB="26735" anchor="ctr">
                    <a:solidFill>
                      <a:srgbClr val="28629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Figtree"/>
                        </a:rPr>
                        <a:t>$B (2024 dollars)</a:t>
                      </a:r>
                      <a:endParaRPr lang="en-US" sz="1800" dirty="0">
                        <a:effectLst/>
                        <a:latin typeface="Figtree"/>
                      </a:endParaRPr>
                    </a:p>
                  </a:txBody>
                  <a:tcPr marL="62381" marR="62381" marT="26735" marB="26735" anchor="ctr">
                    <a:solidFill>
                      <a:srgbClr val="28629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Figtree"/>
                        </a:rPr>
                        <a:t>Limitation</a:t>
                      </a:r>
                      <a:endParaRPr lang="en-US" sz="1800" dirty="0">
                        <a:effectLst/>
                        <a:latin typeface="Figtree"/>
                      </a:endParaRPr>
                    </a:p>
                  </a:txBody>
                  <a:tcPr marL="62381" marR="62381" marT="26735" marB="26735" anchor="ctr">
                    <a:solidFill>
                      <a:srgbClr val="2862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479361"/>
                  </a:ext>
                </a:extLst>
              </a:tr>
              <a:tr h="45585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334155"/>
                          </a:solidFill>
                          <a:effectLst/>
                          <a:latin typeface="Figtree"/>
                        </a:rPr>
                        <a:t>Mean</a:t>
                      </a:r>
                      <a:endParaRPr lang="en-US" sz="1600" dirty="0">
                        <a:effectLst/>
                        <a:latin typeface="Figtree"/>
                      </a:endParaRPr>
                    </a:p>
                  </a:txBody>
                  <a:tcPr marL="62381" marR="62381" marT="26735" marB="26735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Figtree"/>
                        </a:rPr>
                        <a:t>$211.591</a:t>
                      </a:r>
                      <a:endParaRPr lang="en-US" sz="1600" dirty="0">
                        <a:effectLst/>
                        <a:latin typeface="Figtree"/>
                      </a:endParaRPr>
                    </a:p>
                  </a:txBody>
                  <a:tcPr marL="62381" marR="62381" marT="26735" marB="26735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Figtree"/>
                        </a:rPr>
                        <a:t>Does not convey distribution shape.</a:t>
                      </a:r>
                      <a:endParaRPr lang="en-US" sz="1600" dirty="0">
                        <a:effectLst/>
                        <a:latin typeface="Figtree"/>
                      </a:endParaRPr>
                    </a:p>
                  </a:txBody>
                  <a:tcPr marL="62381" marR="62381" marT="26735" marB="26735" anchor="ctr"/>
                </a:tc>
                <a:extLst>
                  <a:ext uri="{0D108BD9-81ED-4DB2-BD59-A6C34878D82A}">
                    <a16:rowId xmlns:a16="http://schemas.microsoft.com/office/drawing/2014/main" val="2475526542"/>
                  </a:ext>
                </a:extLst>
              </a:tr>
              <a:tr h="40327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334155"/>
                          </a:solidFill>
                          <a:effectLst/>
                          <a:latin typeface="Figtree"/>
                        </a:rPr>
                        <a:t>Median</a:t>
                      </a:r>
                      <a:endParaRPr lang="en-US" sz="1600" dirty="0">
                        <a:effectLst/>
                        <a:latin typeface="Figtree"/>
                      </a:endParaRPr>
                    </a:p>
                  </a:txBody>
                  <a:tcPr marL="62381" marR="62381" marT="26735" marB="26735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Figtree"/>
                        </a:rPr>
                        <a:t>$208.098</a:t>
                      </a:r>
                      <a:endParaRPr lang="en-US" sz="1600" dirty="0">
                        <a:effectLst/>
                        <a:latin typeface="Figtree"/>
                      </a:endParaRPr>
                    </a:p>
                  </a:txBody>
                  <a:tcPr marL="62381" marR="62381" marT="26735" marB="26735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Figtree"/>
                        </a:rPr>
                        <a:t>Ignores tail risks and outliers.</a:t>
                      </a:r>
                      <a:endParaRPr lang="en-US" sz="1600" dirty="0">
                        <a:effectLst/>
                        <a:latin typeface="Figtree"/>
                      </a:endParaRPr>
                    </a:p>
                  </a:txBody>
                  <a:tcPr marL="62381" marR="62381" marT="26735" marB="26735" anchor="ctr"/>
                </a:tc>
                <a:extLst>
                  <a:ext uri="{0D108BD9-81ED-4DB2-BD59-A6C34878D82A}">
                    <a16:rowId xmlns:a16="http://schemas.microsoft.com/office/drawing/2014/main" val="2355300193"/>
                  </a:ext>
                </a:extLst>
              </a:tr>
              <a:tr h="48085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334155"/>
                          </a:solidFill>
                          <a:effectLst/>
                          <a:latin typeface="Figtree"/>
                        </a:rPr>
                        <a:t>Minimum</a:t>
                      </a:r>
                      <a:endParaRPr lang="en-US" sz="1600" dirty="0">
                        <a:effectLst/>
                        <a:latin typeface="Figtree"/>
                      </a:endParaRPr>
                    </a:p>
                  </a:txBody>
                  <a:tcPr marL="62381" marR="62381" marT="26735" marB="26735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Figtree"/>
                        </a:rPr>
                        <a:t>$176.900</a:t>
                      </a:r>
                      <a:endParaRPr lang="en-US" sz="1600" dirty="0">
                        <a:effectLst/>
                        <a:latin typeface="Figtree"/>
                      </a:endParaRPr>
                    </a:p>
                  </a:txBody>
                  <a:tcPr marL="62381" marR="62381" marT="26735" marB="26735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Figtree"/>
                        </a:rPr>
                        <a:t>Likely optimistic.</a:t>
                      </a:r>
                      <a:endParaRPr lang="en-US" sz="1600" dirty="0">
                        <a:effectLst/>
                        <a:latin typeface="Figtree"/>
                      </a:endParaRPr>
                    </a:p>
                  </a:txBody>
                  <a:tcPr marL="62381" marR="62381" marT="26735" marB="26735" anchor="ctr"/>
                </a:tc>
                <a:extLst>
                  <a:ext uri="{0D108BD9-81ED-4DB2-BD59-A6C34878D82A}">
                    <a16:rowId xmlns:a16="http://schemas.microsoft.com/office/drawing/2014/main" val="1217549576"/>
                  </a:ext>
                </a:extLst>
              </a:tr>
              <a:tr h="58051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334155"/>
                          </a:solidFill>
                          <a:effectLst/>
                          <a:latin typeface="Figtree"/>
                        </a:rPr>
                        <a:t>Maximum</a:t>
                      </a:r>
                      <a:endParaRPr lang="en-US" sz="1600" dirty="0">
                        <a:effectLst/>
                        <a:latin typeface="Figtree"/>
                      </a:endParaRPr>
                    </a:p>
                  </a:txBody>
                  <a:tcPr marL="62381" marR="62381" marT="26735" marB="26735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Figtree"/>
                        </a:rPr>
                        <a:t>$319.082</a:t>
                      </a:r>
                      <a:endParaRPr lang="en-US" sz="1600" dirty="0">
                        <a:effectLst/>
                        <a:latin typeface="Figtree"/>
                      </a:endParaRPr>
                    </a:p>
                  </a:txBody>
                  <a:tcPr marL="62381" marR="62381" marT="26735" marB="26735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334155"/>
                          </a:solidFill>
                          <a:effectLst/>
                          <a:latin typeface="Figtree"/>
                        </a:rPr>
                        <a:t>Doesn't define the probability of this extreme.</a:t>
                      </a:r>
                      <a:endParaRPr lang="en-US" sz="1600" dirty="0">
                        <a:effectLst/>
                        <a:latin typeface="Figtree"/>
                      </a:endParaRPr>
                    </a:p>
                  </a:txBody>
                  <a:tcPr marL="62381" marR="62381" marT="26735" marB="26735" anchor="ctr"/>
                </a:tc>
                <a:extLst>
                  <a:ext uri="{0D108BD9-81ED-4DB2-BD59-A6C34878D82A}">
                    <a16:rowId xmlns:a16="http://schemas.microsoft.com/office/drawing/2014/main" val="290604672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0D7CBB4F-7958-A1C3-3401-496544757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638" y="2702303"/>
            <a:ext cx="4921352" cy="360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424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38B08-8E36-9504-1649-C9C985AA0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1334-48E2-BEA2-DAFE-A678CE40A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Distributional Metrics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C65AF-506C-E0FE-8D53-CEC167FCE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Spread, Shape, Risk Measurement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B52C1FA-1AC4-2A33-1372-1E99A9896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66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3E6E3-4EBD-5927-CDAF-B4DD16852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01EED-C3AE-F070-264B-3C7B6F498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</a:t>
            </a:r>
            <a:r>
              <a:rPr lang="en-US" u="sng" dirty="0"/>
              <a:t>Spread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505C4-D862-C6A1-F25F-770462E29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010" y="1534332"/>
            <a:ext cx="3840480" cy="340017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2200" b="1" dirty="0">
                <a:solidFill>
                  <a:schemeClr val="accent4"/>
                </a:solidFill>
                <a:latin typeface="Figtree SemiBold" pitchFamily="2" charset="0"/>
              </a:rPr>
              <a:t>Coefficient of Variation (CV)</a:t>
            </a:r>
          </a:p>
          <a:p>
            <a:r>
              <a:rPr lang="en-US" b="1" dirty="0">
                <a:latin typeface="Figtree SemiBold" pitchFamily="2" charset="0"/>
              </a:rPr>
              <a:t>A scale-invariant metric to compare variability across different projects.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igtree SemiBold" pitchFamily="2" charset="0"/>
              </a:rPr>
              <a:t>Higher CV indicates more spread relative to mean.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igtree SemiBold" pitchFamily="2" charset="0"/>
              </a:rPr>
              <a:t>Suggests higher sensitivity to inputs  (e.g. learning rates) for cost estimate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FA1ABA-516B-0AB0-53BF-A256D1FE3EBA}"/>
              </a:ext>
            </a:extLst>
          </p:cNvPr>
          <p:cNvSpPr txBox="1">
            <a:spLocks/>
          </p:cNvSpPr>
          <p:nvPr/>
        </p:nvSpPr>
        <p:spPr>
          <a:xfrm>
            <a:off x="4175760" y="1534332"/>
            <a:ext cx="3840480" cy="340017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2200" b="1" dirty="0">
                <a:solidFill>
                  <a:schemeClr val="accent4"/>
                </a:solidFill>
                <a:latin typeface="Figtree SemiBold" pitchFamily="2" charset="0"/>
              </a:rPr>
              <a:t>Index of Dispersion </a:t>
            </a:r>
            <a:br>
              <a:rPr lang="en-US" sz="2200" b="1" dirty="0">
                <a:solidFill>
                  <a:schemeClr val="accent4"/>
                </a:solidFill>
                <a:latin typeface="Figtree SemiBold" pitchFamily="2" charset="0"/>
              </a:rPr>
            </a:br>
            <a:r>
              <a:rPr lang="en-US" sz="2200" b="1" dirty="0">
                <a:solidFill>
                  <a:schemeClr val="accent4"/>
                </a:solidFill>
                <a:latin typeface="Figtree SemiBold" pitchFamily="2" charset="0"/>
              </a:rPr>
              <a:t>(Variance-to-Mean Ratio)</a:t>
            </a:r>
          </a:p>
          <a:p>
            <a:r>
              <a:rPr lang="en-US" b="1" dirty="0">
                <a:latin typeface="Figtree SemiBold" pitchFamily="2" charset="0"/>
              </a:rPr>
              <a:t>Project specific value, useful for identifying clusters</a:t>
            </a:r>
            <a:endParaRPr lang="en-US" dirty="0">
              <a:latin typeface="Figtree SemiBold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igtree SemiBold" pitchFamily="2" charset="0"/>
              </a:rPr>
              <a:t>Project specific due to units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igtree SemiBold" pitchFamily="2" charset="0"/>
              </a:rPr>
              <a:t>1130 + 1230 lunch shows low CV but misses the two clusters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igtree SemiBold" pitchFamily="2" charset="0"/>
              </a:rPr>
              <a:t>Can be used to identify specific WBS elements or project phases with high variability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Figtree SemiBold" pitchFamily="2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2A6206-5EE8-EB0E-6A19-68922CF4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43" name="Google Shape;143;p18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3411" y="4114590"/>
            <a:ext cx="3435576" cy="705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-1094027" y="4305089"/>
            <a:ext cx="4124325" cy="3241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4A812A-1216-3727-6463-AFF8FD26C95A}"/>
              </a:ext>
            </a:extLst>
          </p:cNvPr>
          <p:cNvCxnSpPr>
            <a:cxnSpLocks/>
          </p:cNvCxnSpPr>
          <p:nvPr/>
        </p:nvCxnSpPr>
        <p:spPr>
          <a:xfrm>
            <a:off x="1500024" y="4454520"/>
            <a:ext cx="124401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EA91F05-240B-467D-5E18-7875BA05BD9E}"/>
              </a:ext>
            </a:extLst>
          </p:cNvPr>
          <p:cNvSpPr txBox="1"/>
          <p:nvPr/>
        </p:nvSpPr>
        <p:spPr>
          <a:xfrm>
            <a:off x="2710860" y="4267107"/>
            <a:ext cx="1138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0.08896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EC6077B-6A9D-67D0-792C-BCDAC4C82793}"/>
              </a:ext>
            </a:extLst>
          </p:cNvPr>
          <p:cNvSpPr txBox="1">
            <a:spLocks/>
          </p:cNvSpPr>
          <p:nvPr/>
        </p:nvSpPr>
        <p:spPr>
          <a:xfrm>
            <a:off x="8063510" y="1534332"/>
            <a:ext cx="3840480" cy="340017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2200" b="1" dirty="0">
                <a:solidFill>
                  <a:schemeClr val="accent4"/>
                </a:solidFill>
                <a:latin typeface="Figtree SemiBold" pitchFamily="2" charset="0"/>
              </a:rPr>
              <a:t>Semi-Deviation</a:t>
            </a:r>
          </a:p>
          <a:p>
            <a:r>
              <a:rPr lang="en-US" b="1" dirty="0">
                <a:latin typeface="Figtree SemiBold" pitchFamily="2" charset="0"/>
              </a:rPr>
              <a:t>Variation is often not consistent across a distribution, semi-deviation and semi-variance allows for subset analysis.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igtree SemiBold" pitchFamily="2" charset="0"/>
              </a:rPr>
              <a:t>See portfolio mgmt. for variability below a loss threshold [5][6]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igtree SemiBold" pitchFamily="2" charset="0"/>
              </a:rPr>
              <a:t>Relevant to space programs  due to Congressional notification if &gt;30% of Agency Baseline Commitment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igtree SemiBold" pitchFamily="2" charset="0"/>
              </a:rPr>
              <a:t>Median set as threshold for example</a:t>
            </a:r>
          </a:p>
        </p:txBody>
      </p:sp>
      <p:pic>
        <p:nvPicPr>
          <p:cNvPr id="16" name="Google Shape;143;p18" descr="image.png">
            <a:extLst>
              <a:ext uri="{FF2B5EF4-FFF2-40B4-BE49-F238E27FC236}">
                <a16:creationId xmlns:a16="http://schemas.microsoft.com/office/drawing/2014/main" id="{40BFE780-CB34-F1CF-EB62-46483F42FB7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59784" y="4934502"/>
            <a:ext cx="3587367" cy="705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0;p18" descr="image.png">
            <a:extLst>
              <a:ext uri="{FF2B5EF4-FFF2-40B4-BE49-F238E27FC236}">
                <a16:creationId xmlns:a16="http://schemas.microsoft.com/office/drawing/2014/main" id="{B6E5D2D1-0F7D-DEA9-3A63-CA5655913FDC}"/>
              </a:ext>
            </a:extLst>
          </p:cNvPr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44034" y="5057159"/>
            <a:ext cx="4124325" cy="4510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9779229-BA09-39D8-C047-30C80FAD194D}"/>
              </a:ext>
            </a:extLst>
          </p:cNvPr>
          <p:cNvCxnSpPr>
            <a:cxnSpLocks/>
          </p:cNvCxnSpPr>
          <p:nvPr/>
        </p:nvCxnSpPr>
        <p:spPr>
          <a:xfrm>
            <a:off x="5292304" y="5296362"/>
            <a:ext cx="124401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7DD6B8B-5AD0-F5ED-4726-6DA0AB36720C}"/>
              </a:ext>
            </a:extLst>
          </p:cNvPr>
          <p:cNvSpPr txBox="1"/>
          <p:nvPr/>
        </p:nvSpPr>
        <p:spPr>
          <a:xfrm>
            <a:off x="6274982" y="4942419"/>
            <a:ext cx="1788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 $1,674.39 </a:t>
            </a:r>
            <a:br>
              <a:rPr lang="en-US" sz="2000" dirty="0"/>
            </a:br>
            <a:r>
              <a:rPr lang="en-US" sz="2000" dirty="0"/>
              <a:t>[𝑀 $2024]</a:t>
            </a:r>
          </a:p>
        </p:txBody>
      </p:sp>
      <p:pic>
        <p:nvPicPr>
          <p:cNvPr id="20" name="Google Shape;143;p18" descr="image.png">
            <a:extLst>
              <a:ext uri="{FF2B5EF4-FFF2-40B4-BE49-F238E27FC236}">
                <a16:creationId xmlns:a16="http://schemas.microsoft.com/office/drawing/2014/main" id="{9279AE71-4C38-D22F-3782-AFCBCC35729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19525" y="4989168"/>
            <a:ext cx="3587367" cy="7051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2CC29FB-4BDE-0700-8B3D-D407F3DF96B8}"/>
              </a:ext>
            </a:extLst>
          </p:cNvPr>
          <p:cNvCxnSpPr>
            <a:cxnSpLocks/>
          </p:cNvCxnSpPr>
          <p:nvPr/>
        </p:nvCxnSpPr>
        <p:spPr>
          <a:xfrm>
            <a:off x="9873041" y="5306258"/>
            <a:ext cx="802048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92022E0-345A-42FF-F720-40B2C433604E}"/>
              </a:ext>
            </a:extLst>
          </p:cNvPr>
          <p:cNvSpPr txBox="1"/>
          <p:nvPr/>
        </p:nvSpPr>
        <p:spPr>
          <a:xfrm>
            <a:off x="8221917" y="5096307"/>
            <a:ext cx="18120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/>
              <a:t>Semidev</a:t>
            </a:r>
            <a:r>
              <a:rPr lang="en-US" sz="2000" dirty="0"/>
              <a:t>(50)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251B9C-2ADD-2999-76ED-C1D567004564}"/>
              </a:ext>
            </a:extLst>
          </p:cNvPr>
          <p:cNvSpPr txBox="1"/>
          <p:nvPr/>
        </p:nvSpPr>
        <p:spPr>
          <a:xfrm>
            <a:off x="10765863" y="5049353"/>
            <a:ext cx="1138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$16,984</a:t>
            </a:r>
            <a:br>
              <a:rPr lang="en-US" sz="1600" dirty="0"/>
            </a:br>
            <a:r>
              <a:rPr lang="en-US" sz="1600" dirty="0"/>
              <a:t>[𝑀 $2024]</a:t>
            </a:r>
          </a:p>
        </p:txBody>
      </p:sp>
    </p:spTree>
    <p:extLst>
      <p:ext uri="{BB962C8B-B14F-4D97-AF65-F5344CB8AC3E}">
        <p14:creationId xmlns:p14="http://schemas.microsoft.com/office/powerpoint/2010/main" val="291912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19" grpId="0"/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8564F-59F3-9314-0C90-28B4E0B10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0AB9C-06FB-91D3-F69A-0A6697F24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</a:t>
            </a:r>
            <a:r>
              <a:rPr lang="en-US" u="sng" dirty="0"/>
              <a:t>Shape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D1206-3151-F236-4B59-3011F1601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51176"/>
            <a:ext cx="4686701" cy="340017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2200" b="1" dirty="0">
                <a:solidFill>
                  <a:schemeClr val="accent4"/>
                </a:solidFill>
                <a:latin typeface="Figtree SemiBold" pitchFamily="2" charset="0"/>
              </a:rPr>
              <a:t>Skew</a:t>
            </a:r>
          </a:p>
          <a:p>
            <a:r>
              <a:rPr lang="en-US" b="1" dirty="0">
                <a:latin typeface="Figtree SemiBold" pitchFamily="2" charset="0"/>
              </a:rPr>
              <a:t>Measures direction and magnitude of bias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Positive means higher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strong positive skew may indicate numerous uncertainties and potential for significant cost overruns 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1CC69F3-7F28-3C24-BDF5-D9818AA3EB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74870" y="2551176"/>
                <a:ext cx="4686701" cy="3400170"/>
              </a:xfrm>
              <a:prstGeom prst="rect">
                <a:avLst/>
              </a:prstGeom>
            </p:spPr>
            <p:txBody>
              <a:bodyPr lIns="0" tIns="0" rIns="0" bIns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Tx/>
                  <a:buNone/>
                  <a:defRPr sz="1800" b="0" i="0" kern="1200">
                    <a:solidFill>
                      <a:schemeClr val="bg1"/>
                    </a:solidFill>
                    <a:latin typeface="Figtree" pitchFamily="2" charset="0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bg1"/>
                    </a:solidFill>
                    <a:latin typeface="Figtree" pitchFamily="2" charset="0"/>
                    <a:ea typeface="+mn-ea"/>
                    <a:cs typeface="+mn-cs"/>
                  </a:defRPr>
                </a:lvl2pPr>
                <a:lvl3pPr marL="1200150" indent="-2857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bg1"/>
                    </a:solidFill>
                    <a:latin typeface="Figtree" pitchFamily="2" charset="0"/>
                    <a:ea typeface="+mn-ea"/>
                    <a:cs typeface="+mn-cs"/>
                  </a:defRPr>
                </a:lvl3pPr>
                <a:lvl4pPr marL="1657350" indent="-2857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bg1"/>
                    </a:solidFill>
                    <a:latin typeface="Figtree" pitchFamily="2" charset="0"/>
                    <a:ea typeface="+mn-ea"/>
                    <a:cs typeface="+mn-cs"/>
                  </a:defRPr>
                </a:lvl4pPr>
                <a:lvl5pPr marL="2114550" indent="-2857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bg1"/>
                    </a:solidFill>
                    <a:latin typeface="Figtree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600"/>
                  </a:spcAft>
                </a:pPr>
                <a:r>
                  <a:rPr lang="en-US" sz="2200" b="1" dirty="0">
                    <a:solidFill>
                      <a:schemeClr val="accent4"/>
                    </a:solidFill>
                    <a:latin typeface="Figtree SemiBold" pitchFamily="2" charset="0"/>
                  </a:rPr>
                  <a:t>Kurtosis</a:t>
                </a:r>
              </a:p>
              <a:p>
                <a:r>
                  <a:rPr lang="en-US" b="1" dirty="0">
                    <a:latin typeface="Figtree SemiBold" pitchFamily="2" charset="0"/>
                  </a:rPr>
                  <a:t>Describes the shape of a distribution’s tails relative to its overall shape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Higher kurtosis= higher probability of outliers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Informs both outlier cost planning and a validity check for the model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Std. normal distribution has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  <m:r>
                      <a:rPr lang="en-US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1CC69F3-7F28-3C24-BDF5-D9818AA3E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870" y="2551176"/>
                <a:ext cx="4686701" cy="3400170"/>
              </a:xfrm>
              <a:prstGeom prst="rect">
                <a:avLst/>
              </a:prstGeom>
              <a:blipFill>
                <a:blip r:embed="rId2"/>
                <a:stretch>
                  <a:fillRect l="-3641" t="-3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74176AC-1D3C-8F34-278D-670E4DB0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6EB58E-2C51-9EDD-CCB2-A94CCEB0D8D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55181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2000" b="1" dirty="0">
                <a:latin typeface="Figtree SemiBold" pitchFamily="2" charset="0"/>
              </a:rPr>
              <a:t>It is widely known that aerospace project costs tend to skew significantly upwards [7], these metrics enable a more precise description of the shaping.</a:t>
            </a:r>
            <a:endParaRPr lang="en-US" sz="2000" dirty="0"/>
          </a:p>
        </p:txBody>
      </p:sp>
      <p:pic>
        <p:nvPicPr>
          <p:cNvPr id="6" name="Google Shape;143;p18" descr="image.png">
            <a:extLst>
              <a:ext uri="{FF2B5EF4-FFF2-40B4-BE49-F238E27FC236}">
                <a16:creationId xmlns:a16="http://schemas.microsoft.com/office/drawing/2014/main" id="{DEEE2F39-5085-CDB0-D931-ACD13C1E4F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4812371"/>
            <a:ext cx="4789242" cy="7051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5F801CA-8EC1-8E6F-F232-59E76B34D38A}"/>
              </a:ext>
            </a:extLst>
          </p:cNvPr>
          <p:cNvCxnSpPr>
            <a:cxnSpLocks/>
          </p:cNvCxnSpPr>
          <p:nvPr/>
        </p:nvCxnSpPr>
        <p:spPr>
          <a:xfrm>
            <a:off x="3101422" y="5164944"/>
            <a:ext cx="124401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E2B8649-6CC4-5E60-05E8-905D466F8B62}"/>
              </a:ext>
            </a:extLst>
          </p:cNvPr>
          <p:cNvSpPr txBox="1"/>
          <p:nvPr/>
        </p:nvSpPr>
        <p:spPr>
          <a:xfrm>
            <a:off x="4408040" y="4964889"/>
            <a:ext cx="1138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1.20102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F40A52-E1C2-DE94-AAA5-8E01CF797A27}"/>
                  </a:ext>
                </a:extLst>
              </p:cNvPr>
              <p:cNvSpPr txBox="1"/>
              <p:nvPr/>
            </p:nvSpPr>
            <p:spPr>
              <a:xfrm>
                <a:off x="964371" y="4812371"/>
                <a:ext cx="2073253" cy="666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ar-AE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AE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ar-AE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ar-AE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ar-AE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ar-AE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ar-AE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ar-AE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  <m: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ar-AE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ar-AE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F40A52-E1C2-DE94-AAA5-8E01CF797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371" y="4812371"/>
                <a:ext cx="2073253" cy="6665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oogle Shape;143;p18" descr="image.png">
            <a:extLst>
              <a:ext uri="{FF2B5EF4-FFF2-40B4-BE49-F238E27FC236}">
                <a16:creationId xmlns:a16="http://schemas.microsoft.com/office/drawing/2014/main" id="{81AFBCF0-0ACC-1154-2BF9-26B5F44AD6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7411" y="5164944"/>
            <a:ext cx="4772664" cy="7051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C5578F9-170A-9EDB-2E3E-6890F9FB3C26}"/>
              </a:ext>
            </a:extLst>
          </p:cNvPr>
          <p:cNvCxnSpPr>
            <a:cxnSpLocks/>
          </p:cNvCxnSpPr>
          <p:nvPr/>
        </p:nvCxnSpPr>
        <p:spPr>
          <a:xfrm>
            <a:off x="8692013" y="5517517"/>
            <a:ext cx="124401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DC7B24F-29D3-4FD5-C8A8-11D4533F7E51}"/>
              </a:ext>
            </a:extLst>
          </p:cNvPr>
          <p:cNvSpPr txBox="1"/>
          <p:nvPr/>
        </p:nvSpPr>
        <p:spPr>
          <a:xfrm>
            <a:off x="9980048" y="5317462"/>
            <a:ext cx="1138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2.08901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415B38-05F4-D2C0-567E-FA53C2C9D2FE}"/>
                  </a:ext>
                </a:extLst>
              </p:cNvPr>
              <p:cNvSpPr txBox="1"/>
              <p:nvPr/>
            </p:nvSpPr>
            <p:spPr>
              <a:xfrm>
                <a:off x="6503582" y="5164944"/>
                <a:ext cx="2073253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ar-AE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AE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ar-AE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acc>
                      <m:r>
                        <a:rPr lang="ar-AE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ar-AE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ar-AE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ar-AE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ar-AE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  <m: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ar-AE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415B38-05F4-D2C0-567E-FA53C2C9D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3582" y="5164944"/>
                <a:ext cx="2073253" cy="6685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57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5FB97-FD7E-F04E-3F96-AE5387397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78830-450D-4D07-DE23-6697BBC55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</a:t>
            </a:r>
            <a:r>
              <a:rPr lang="en-US" u="sng" dirty="0"/>
              <a:t>Risk</a:t>
            </a:r>
            <a:r>
              <a:rPr lang="en-US" dirty="0"/>
              <a:t> (Data Proportions)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08FAA-4139-C2C8-28D3-CBB142718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332"/>
            <a:ext cx="4686701" cy="4417014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2200" b="1" dirty="0">
                <a:solidFill>
                  <a:schemeClr val="accent4"/>
                </a:solidFill>
                <a:latin typeface="Figtree SemiBold" pitchFamily="2" charset="0"/>
              </a:rPr>
              <a:t>Percentile Ranges</a:t>
            </a:r>
          </a:p>
          <a:p>
            <a:r>
              <a:rPr lang="en-US" b="1" dirty="0">
                <a:latin typeface="Figtree SemiBold" pitchFamily="2" charset="0"/>
              </a:rPr>
              <a:t>Captures the proportion of the distribution falling below a certain value or a confidence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50</a:t>
            </a:r>
            <a:r>
              <a:rPr lang="en-US" baseline="30000" dirty="0"/>
              <a:t>th</a:t>
            </a:r>
            <a:r>
              <a:rPr lang="en-US" dirty="0"/>
              <a:t> and 70</a:t>
            </a:r>
            <a:r>
              <a:rPr lang="en-US" baseline="30000" dirty="0"/>
              <a:t>th</a:t>
            </a:r>
            <a:r>
              <a:rPr lang="en-US" dirty="0"/>
              <a:t> percentiles recommended by NASA NPR 7120.5F [1]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Conservative recommendation is 85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also determine the percentile contained around a value, e.g. the mean</a:t>
            </a:r>
          </a:p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73E15A5-87F5-04B6-52C9-0D1057FA2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0AD296-2C34-A1A4-6CE9-4A198604086F}"/>
              </a:ext>
            </a:extLst>
          </p:cNvPr>
          <p:cNvGrpSpPr/>
          <p:nvPr/>
        </p:nvGrpSpPr>
        <p:grpSpPr>
          <a:xfrm>
            <a:off x="514455" y="4394411"/>
            <a:ext cx="5334189" cy="1187603"/>
            <a:chOff x="343597" y="4136065"/>
            <a:chExt cx="5752403" cy="133970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20CBFA9-5B2D-0777-00CE-BAA0E46026B9}"/>
                </a:ext>
              </a:extLst>
            </p:cNvPr>
            <p:cNvSpPr/>
            <p:nvPr/>
          </p:nvSpPr>
          <p:spPr>
            <a:xfrm>
              <a:off x="343597" y="4136065"/>
              <a:ext cx="5752403" cy="13397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5E21BBE5-72EC-8FBB-ADBC-5F3361D21CB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65" t="29134" r="8086" b="26099"/>
            <a:stretch>
              <a:fillRect/>
            </a:stretch>
          </p:blipFill>
          <p:spPr bwMode="auto">
            <a:xfrm>
              <a:off x="343597" y="4136065"/>
              <a:ext cx="5752403" cy="1339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306FC8D-CAC6-29DE-3F71-06DCE3B258C3}"/>
              </a:ext>
            </a:extLst>
          </p:cNvPr>
          <p:cNvSpPr txBox="1"/>
          <p:nvPr/>
        </p:nvSpPr>
        <p:spPr>
          <a:xfrm>
            <a:off x="514455" y="5582014"/>
            <a:ext cx="5334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bg1"/>
                </a:solidFill>
                <a:latin typeface="Figtree"/>
              </a:rPr>
              <a:t>"The SSP will cost $230B or less, with 85% confidence."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4532B2B-7A84-A65D-1E3C-E5955444B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772" y="1728020"/>
            <a:ext cx="5506218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268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26648-D931-E81E-1A45-5CEE1A73B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B5E7-91B5-1D02-982D-6F5A04637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</a:t>
            </a:r>
            <a:r>
              <a:rPr lang="en-US" u="sng" dirty="0"/>
              <a:t>Risk</a:t>
            </a:r>
            <a:r>
              <a:rPr lang="en-US" dirty="0"/>
              <a:t> (Outlier Presence)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55EE8-E12B-C513-A77B-E8C6CD7C8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3001"/>
            <a:ext cx="5257801" cy="44583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2200" b="1" dirty="0">
                <a:solidFill>
                  <a:schemeClr val="accent4"/>
                </a:solidFill>
                <a:latin typeface="Figtree SemiBold" pitchFamily="2" charset="0"/>
              </a:rPr>
              <a:t>Frequency of Exceedance</a:t>
            </a:r>
          </a:p>
          <a:p>
            <a:r>
              <a:rPr lang="en-US" b="1" dirty="0">
                <a:latin typeface="Figtree SemiBold" pitchFamily="2" charset="0"/>
              </a:rPr>
              <a:t>Quantifies the risk beyond a do not exceed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 a threshold -&gt; calculate the exceedances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Alt. set the exceedances -&gt; calculate threshold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Examples for the SSP</a:t>
            </a:r>
          </a:p>
          <a:p>
            <a:pPr marL="1028700" lvl="1"/>
            <a:r>
              <a:rPr lang="en-US" dirty="0"/>
              <a:t>Set threshold at most recent LCC est.</a:t>
            </a:r>
          </a:p>
          <a:p>
            <a:pPr marL="1028700" lvl="1"/>
            <a:r>
              <a:rPr lang="en-US" dirty="0"/>
              <a:t>Set exceedances at 5%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1C2617-AD26-A412-F652-8DFE769E61E8}"/>
              </a:ext>
            </a:extLst>
          </p:cNvPr>
          <p:cNvSpPr txBox="1">
            <a:spLocks/>
          </p:cNvSpPr>
          <p:nvPr/>
        </p:nvSpPr>
        <p:spPr>
          <a:xfrm>
            <a:off x="6129580" y="1534332"/>
            <a:ext cx="5257800" cy="44170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2200" b="1" dirty="0">
                <a:solidFill>
                  <a:schemeClr val="accent4"/>
                </a:solidFill>
                <a:latin typeface="Figtree SemiBold" pitchFamily="2" charset="0"/>
              </a:rPr>
              <a:t>Z-Score</a:t>
            </a:r>
          </a:p>
          <a:p>
            <a:r>
              <a:rPr lang="en-US" b="1" dirty="0">
                <a:latin typeface="Figtree SemiBold" pitchFamily="2" charset="0"/>
              </a:rPr>
              <a:t>Converts a point to the number of standard deviations in relation to the mean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68-95-99.7 rule for characterizing extremeness [9-10]</a:t>
            </a:r>
            <a:br>
              <a:rPr lang="en-US" dirty="0"/>
            </a:br>
            <a:r>
              <a:rPr lang="en-US" i="1" dirty="0"/>
              <a:t>in relation to z= [1, 2, 3]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Allows for placement of prior estimates within study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Consider the worst case Shuttle LCC estimate from the NASA commissioned 1972 Mathematica study:</a:t>
            </a:r>
            <a:br>
              <a:rPr lang="en-US" dirty="0"/>
            </a:br>
            <a:r>
              <a:rPr lang="en-US" i="1" dirty="0"/>
              <a:t>$323.3B -&gt; z= 5.9391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uses most recent LCC estimate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D39E7C4-EA99-5977-4355-2869F6BF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Google Shape;143;p18" descr="image.png">
            <a:extLst>
              <a:ext uri="{FF2B5EF4-FFF2-40B4-BE49-F238E27FC236}">
                <a16:creationId xmlns:a16="http://schemas.microsoft.com/office/drawing/2014/main" id="{8009E9E3-8135-6285-5205-D5A9FBDDA10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199" y="4478583"/>
            <a:ext cx="4595038" cy="705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43;p18" descr="image.png">
            <a:extLst>
              <a:ext uri="{FF2B5EF4-FFF2-40B4-BE49-F238E27FC236}">
                <a16:creationId xmlns:a16="http://schemas.microsoft.com/office/drawing/2014/main" id="{9B446187-C01C-2364-F2C0-155636E5D3C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78351" y="5018631"/>
            <a:ext cx="4664570" cy="70514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533F782-9BF7-13D6-96C9-A37E9D6DB816}"/>
              </a:ext>
            </a:extLst>
          </p:cNvPr>
          <p:cNvSpPr txBox="1"/>
          <p:nvPr/>
        </p:nvSpPr>
        <p:spPr>
          <a:xfrm>
            <a:off x="957599" y="4631101"/>
            <a:ext cx="2190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$254.5 B @ 3.5%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8A31D2-663A-DC8F-69DA-63180DCBA25E}"/>
              </a:ext>
            </a:extLst>
          </p:cNvPr>
          <p:cNvSpPr txBox="1"/>
          <p:nvPr/>
        </p:nvSpPr>
        <p:spPr>
          <a:xfrm>
            <a:off x="3195418" y="4631101"/>
            <a:ext cx="2190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5% @ $248.9 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1AE73D-C70C-1D0A-C907-3717A2E4E3C4}"/>
              </a:ext>
            </a:extLst>
          </p:cNvPr>
          <p:cNvSpPr txBox="1"/>
          <p:nvPr/>
        </p:nvSpPr>
        <p:spPr>
          <a:xfrm>
            <a:off x="6906512" y="5171149"/>
            <a:ext cx="3703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$254.5 B -&gt; z= 2.2808</a:t>
            </a:r>
          </a:p>
        </p:txBody>
      </p:sp>
    </p:spTree>
    <p:extLst>
      <p:ext uri="{BB962C8B-B14F-4D97-AF65-F5344CB8AC3E}">
        <p14:creationId xmlns:p14="http://schemas.microsoft.com/office/powerpoint/2010/main" val="359340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80E34-E55C-C109-460F-022A84F44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94FA0-1B51-EDDA-6AA9-8FF1C883C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</a:t>
            </a:r>
            <a:r>
              <a:rPr lang="en-US" u="sng" dirty="0"/>
              <a:t>Risk</a:t>
            </a:r>
            <a:r>
              <a:rPr lang="en-US" dirty="0"/>
              <a:t> (Outlier Impacts)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AC9B3C-7BF5-3750-DBDC-0C29B3215D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4332"/>
                <a:ext cx="5010444" cy="4417014"/>
              </a:xfrm>
            </p:spPr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en-US" sz="2200" b="1" dirty="0">
                    <a:solidFill>
                      <a:schemeClr val="accent4"/>
                    </a:solidFill>
                    <a:latin typeface="Figtree SemiBold" pitchFamily="2" charset="0"/>
                  </a:rPr>
                  <a:t>Conditional Value at Risk (CVAR)</a:t>
                </a:r>
              </a:p>
              <a:p>
                <a:r>
                  <a:rPr lang="en-US" b="1" dirty="0">
                    <a:latin typeface="Figtree SemiBold" pitchFamily="2" charset="0"/>
                  </a:rPr>
                  <a:t>Variant of Value at Risk, averages the extreme losses in the distribution beyond the VAR threshold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VAR provides a threshold value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such that the probability of exceeding the threshold value is at most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[12]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VAR estimates </a:t>
                </a:r>
                <a:r>
                  <a:rPr lang="en-US" i="1" dirty="0"/>
                  <a:t>maximum</a:t>
                </a:r>
                <a:r>
                  <a:rPr lang="en-US" dirty="0"/>
                  <a:t> potential loss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CVAR provides the </a:t>
                </a:r>
                <a:r>
                  <a:rPr lang="en-US" i="1" dirty="0"/>
                  <a:t>average</a:t>
                </a:r>
                <a:r>
                  <a:rPr lang="en-US" dirty="0"/>
                  <a:t> potential loss [13-14]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AC9B3C-7BF5-3750-DBDC-0C29B3215D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4332"/>
                <a:ext cx="5010444" cy="4417014"/>
              </a:xfrm>
              <a:blipFill>
                <a:blip r:embed="rId2"/>
                <a:stretch>
                  <a:fillRect l="-3410" t="-2901" r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35BB10-1C58-178A-08BE-494EB2D5C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5B63EE-742B-673A-2275-4FC30248D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696" y="2253213"/>
            <a:ext cx="5564925" cy="3787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BF55D7-E0E0-B091-3AB7-AC94CB7FC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955" y="4351941"/>
            <a:ext cx="3130353" cy="664014"/>
          </a:xfrm>
          <a:prstGeom prst="rect">
            <a:avLst/>
          </a:prstGeom>
        </p:spPr>
      </p:pic>
      <p:pic>
        <p:nvPicPr>
          <p:cNvPr id="9" name="Google Shape;143;p18" descr="image.png">
            <a:extLst>
              <a:ext uri="{FF2B5EF4-FFF2-40B4-BE49-F238E27FC236}">
                <a16:creationId xmlns:a16="http://schemas.microsoft.com/office/drawing/2014/main" id="{77243294-CA80-C189-ADA7-4768909A00C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199" y="5246199"/>
            <a:ext cx="5010443" cy="70514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3781C7-6376-549A-9323-0DD31D3EE6D8}"/>
              </a:ext>
            </a:extLst>
          </p:cNvPr>
          <p:cNvSpPr txBox="1"/>
          <p:nvPr/>
        </p:nvSpPr>
        <p:spPr>
          <a:xfrm>
            <a:off x="957600" y="5398717"/>
            <a:ext cx="23883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CVAR(5)= $262.6 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92E12A-652E-DD5C-2366-54AC0E8BB919}"/>
              </a:ext>
            </a:extLst>
          </p:cNvPr>
          <p:cNvSpPr txBox="1"/>
          <p:nvPr/>
        </p:nvSpPr>
        <p:spPr>
          <a:xfrm>
            <a:off x="3343420" y="5398717"/>
            <a:ext cx="23883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CVAR(1)= $285.0 B</a:t>
            </a:r>
          </a:p>
        </p:txBody>
      </p:sp>
    </p:spTree>
    <p:extLst>
      <p:ext uri="{BB962C8B-B14F-4D97-AF65-F5344CB8AC3E}">
        <p14:creationId xmlns:p14="http://schemas.microsoft.com/office/powerpoint/2010/main" val="3159160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04855-C80D-5EC9-1909-AA8D1D5DF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D7A2-0A98-B1E0-046C-7C37DBD0A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vs. Distributional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7A401-7B3C-70D0-29A6-61F4F359D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1EF14A4-4C6F-6CAA-28EF-22BC13DDC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407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D6596-9471-6CAE-2F7F-2F618243A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FE838-5B80-7B81-1F0F-4318E790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Distributional metrics offer a more nuanced view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193C3F6-DFE6-0334-F24B-87AB6849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4AD69BE-E896-5A15-2620-A945582FA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509665"/>
              </p:ext>
            </p:extLst>
          </p:nvPr>
        </p:nvGraphicFramePr>
        <p:xfrm>
          <a:off x="566880" y="1989834"/>
          <a:ext cx="11045426" cy="3626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8731">
                  <a:extLst>
                    <a:ext uri="{9D8B030D-6E8A-4147-A177-3AD203B41FA5}">
                      <a16:colId xmlns:a16="http://schemas.microsoft.com/office/drawing/2014/main" val="262760579"/>
                    </a:ext>
                  </a:extLst>
                </a:gridCol>
                <a:gridCol w="2699680">
                  <a:extLst>
                    <a:ext uri="{9D8B030D-6E8A-4147-A177-3AD203B41FA5}">
                      <a16:colId xmlns:a16="http://schemas.microsoft.com/office/drawing/2014/main" val="3909321196"/>
                    </a:ext>
                  </a:extLst>
                </a:gridCol>
                <a:gridCol w="6147015">
                  <a:extLst>
                    <a:ext uri="{9D8B030D-6E8A-4147-A177-3AD203B41FA5}">
                      <a16:colId xmlns:a16="http://schemas.microsoft.com/office/drawing/2014/main" val="1745358832"/>
                    </a:ext>
                  </a:extLst>
                </a:gridCol>
              </a:tblGrid>
              <a:tr h="5522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Metric Category</a:t>
                      </a:r>
                      <a:endParaRPr dirty="0"/>
                    </a:p>
                  </a:txBody>
                  <a:tcPr marL="63500" marR="63500" marT="25400" marB="25400" anchor="ctr">
                    <a:solidFill>
                      <a:srgbClr val="28629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Traditional Approach</a:t>
                      </a:r>
                      <a:endParaRPr dirty="0"/>
                    </a:p>
                  </a:txBody>
                  <a:tcPr marL="63500" marR="63500" marT="25400" marB="25400" anchor="ctr">
                    <a:solidFill>
                      <a:srgbClr val="28629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Distributional Approach</a:t>
                      </a:r>
                      <a:endParaRPr dirty="0"/>
                    </a:p>
                  </a:txBody>
                  <a:tcPr marL="63500" marR="63500" marT="25400" marB="25400" anchor="ctr">
                    <a:solidFill>
                      <a:srgbClr val="2862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479361"/>
                  </a:ext>
                </a:extLst>
              </a:tr>
              <a:tr h="5522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Central Tendency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Mean: $211.6 B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50</a:t>
                      </a:r>
                      <a:r>
                        <a:rPr lang="en-US" sz="1500" b="0" i="0" u="none" strike="noStrike" cap="none" baseline="30000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Percentile: $208.1 B</a:t>
                      </a:r>
                      <a:b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</a:b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70</a:t>
                      </a:r>
                      <a:r>
                        <a:rPr lang="en-US" sz="1500" b="0" i="0" u="none" strike="noStrike" cap="none" baseline="30000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Percentile: $217.6 B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sym typeface="DM Sans"/>
                        </a:rPr>
                        <a:t>85</a:t>
                      </a:r>
                      <a:r>
                        <a:rPr lang="en-US" sz="1500" b="0" i="0" u="none" strike="noStrike" cap="none" baseline="30000" dirty="0">
                          <a:solidFill>
                            <a:srgbClr val="334155"/>
                          </a:solidFill>
                          <a:latin typeface="DM Sans"/>
                          <a:sym typeface="DM Sans"/>
                        </a:rPr>
                        <a:t>th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sym typeface="DM Sans"/>
                        </a:rPr>
                        <a:t> Percentile: $230.1 B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2475526542"/>
                  </a:ext>
                </a:extLst>
              </a:tr>
              <a:tr h="8007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Spread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Min: $176.9 B </a:t>
                      </a:r>
                      <a:b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</a:b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Max: $319.1 B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CV: 0.089</a:t>
                      </a:r>
                      <a:b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</a:b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Index of Dispersion (VMR): $1.67 B</a:t>
                      </a:r>
                      <a:b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</a:b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Semi-deviation from mean: $16.98 B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2355300193"/>
                  </a:ext>
                </a:extLst>
              </a:tr>
              <a:tr h="8007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Shape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1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Captured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Skewness: 1.201 </a:t>
                      </a:r>
                      <a:b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Kurtosis: 2.089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217549576"/>
                  </a:ext>
                </a:extLst>
              </a:tr>
              <a:tr h="63107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Risk Measures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"Cost is between $176.9 B and $319.1 B"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Z-score: A cost of $254.4B is 2.28 std. dev from the mean</a:t>
                      </a:r>
                      <a:b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</a:b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Freq. of exceedance: 3.5% chance of exceeding a budget of $254.4 B</a:t>
                      </a:r>
                      <a:b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</a:b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CVAR(5): Average cost in the worst 5% of cases is $262.6 B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2906046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755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2EC35-AD57-5528-5F22-04B283D22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01072-5001-39EE-D6BB-69BBFF893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3A0A6-C27F-F561-F0DA-7B9BC29CA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06740" cy="4125722"/>
          </a:xfrm>
        </p:spPr>
        <p:txBody>
          <a:bodyPr/>
          <a:lstStyle/>
          <a:p>
            <a:pPr marL="514350" indent="-514350">
              <a:spcAft>
                <a:spcPts val="600"/>
              </a:spcAft>
              <a:buFont typeface="+mj-lt"/>
              <a:buAutoNum type="romanUcPeriod"/>
            </a:pPr>
            <a:r>
              <a:rPr lang="en-US" sz="2200" b="1" u="sng" dirty="0">
                <a:solidFill>
                  <a:srgbClr val="F1B82C"/>
                </a:solidFill>
                <a:latin typeface="Figtree SemiBold" pitchFamily="2" charset="0"/>
              </a:rPr>
              <a:t>Context is King</a:t>
            </a:r>
            <a:r>
              <a:rPr lang="en-US" sz="2200" b="1" dirty="0">
                <a:solidFill>
                  <a:srgbClr val="F1B82C"/>
                </a:solidFill>
                <a:latin typeface="Figtree SemiBold" pitchFamily="2" charset="0"/>
              </a:rPr>
              <a:t>: </a:t>
            </a:r>
            <a:r>
              <a:rPr lang="en-US" sz="2200" dirty="0">
                <a:latin typeface="Figtree SemiBold" pitchFamily="2" charset="0"/>
              </a:rPr>
              <a:t>Traditional metrics (mean/min/max) overlook the dynamic nature of cost inputs and subsequent estimates.</a:t>
            </a:r>
          </a:p>
          <a:p>
            <a:pPr marL="514350" indent="-514350">
              <a:spcAft>
                <a:spcPts val="600"/>
              </a:spcAft>
              <a:buFont typeface="+mj-lt"/>
              <a:buAutoNum type="romanUcPeriod"/>
            </a:pPr>
            <a:r>
              <a:rPr lang="en-US" sz="2200" b="1" u="sng" dirty="0">
                <a:solidFill>
                  <a:srgbClr val="F1B82C"/>
                </a:solidFill>
                <a:latin typeface="Figtree SemiBold" pitchFamily="2" charset="0"/>
              </a:rPr>
              <a:t>Quantify the Tails</a:t>
            </a:r>
            <a:r>
              <a:rPr lang="en-US" sz="2200" b="1" dirty="0">
                <a:solidFill>
                  <a:srgbClr val="F1B82C"/>
                </a:solidFill>
                <a:latin typeface="Figtree SemiBold" pitchFamily="2" charset="0"/>
              </a:rPr>
              <a:t>: </a:t>
            </a:r>
            <a:r>
              <a:rPr lang="en-US" sz="2200" dirty="0">
                <a:latin typeface="Figtree SemiBold" pitchFamily="2" charset="0"/>
              </a:rPr>
              <a:t>Distributional metrics (CVAR, Kurtosis) reveal insights into potential outliers and "Black Swan" events.</a:t>
            </a:r>
          </a:p>
          <a:p>
            <a:pPr marL="514350" indent="-514350">
              <a:spcAft>
                <a:spcPts val="600"/>
              </a:spcAft>
              <a:buFont typeface="+mj-lt"/>
              <a:buAutoNum type="romanUcPeriod"/>
            </a:pPr>
            <a:r>
              <a:rPr lang="en-US" sz="2200" b="1" u="sng" dirty="0">
                <a:solidFill>
                  <a:srgbClr val="F1B82C"/>
                </a:solidFill>
                <a:latin typeface="Figtree SemiBold" pitchFamily="2" charset="0"/>
              </a:rPr>
              <a:t>Robust Planning</a:t>
            </a:r>
            <a:r>
              <a:rPr lang="en-US" sz="2200" b="1" dirty="0">
                <a:solidFill>
                  <a:srgbClr val="F1B82C"/>
                </a:solidFill>
                <a:latin typeface="Figtree SemiBold" pitchFamily="2" charset="0"/>
              </a:rPr>
              <a:t>: </a:t>
            </a:r>
            <a:r>
              <a:rPr lang="en-US" sz="2200" dirty="0">
                <a:latin typeface="Figtree SemiBold" pitchFamily="2" charset="0"/>
              </a:rPr>
              <a:t>Understanding the shape and spread of the cost distribution enables better reserve allocation for long-term O&amp;S phases.</a:t>
            </a:r>
          </a:p>
          <a:p>
            <a:pPr marL="514350" indent="-514350">
              <a:spcAft>
                <a:spcPts val="600"/>
              </a:spcAft>
              <a:buFont typeface="+mj-lt"/>
              <a:buAutoNum type="romanUcPeriod"/>
            </a:pPr>
            <a:r>
              <a:rPr lang="en-US" sz="2200" b="1" u="sng" dirty="0">
                <a:solidFill>
                  <a:srgbClr val="F1B82C"/>
                </a:solidFill>
                <a:latin typeface="Figtree SemiBold" pitchFamily="2" charset="0"/>
              </a:rPr>
              <a:t>Enhanced Decision Making</a:t>
            </a:r>
            <a:r>
              <a:rPr lang="en-US" sz="2200" b="1" dirty="0">
                <a:solidFill>
                  <a:srgbClr val="F1B82C"/>
                </a:solidFill>
                <a:latin typeface="Figtree SemiBold" pitchFamily="2" charset="0"/>
              </a:rPr>
              <a:t>:</a:t>
            </a:r>
            <a:r>
              <a:rPr lang="en-US" sz="2200" dirty="0">
                <a:latin typeface="Figtree SemiBold" pitchFamily="2" charset="0"/>
              </a:rPr>
              <a:t> Moving beyond single-point estimates allows for a comprehensive risk assessment framework.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latin typeface="Figtree SemiBold" pitchFamily="2" charset="0"/>
              </a:rPr>
              <a:t>The background for this work, its applications, and additional development are further explored in “Adapting the Past for Future Flight: Preliminary Design Framework for Long Duration O&amp;S Aerospace Programs” [3]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165999B-33E4-8A33-9BE2-B9E337DC5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79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2EF6F-64B0-155C-1C0B-0760E4189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93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91909-DA69-6AFF-3D44-8A3D83CDA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slide that can divide sections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92101-092B-C617-7A95-118D3BDBA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optional subhead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4B882ED-CCDD-4A57-95A4-444D70FE7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30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C70A29-C03B-FEDE-ACC4-1C61D74527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Bef>
                <a:spcPts val="1600"/>
              </a:spcBef>
            </a:pPr>
            <a:r>
              <a:rPr lang="en-US"/>
              <a:t>This is a pull-quote. Make sure to include a finishing quote at the end like this.”</a:t>
            </a:r>
          </a:p>
          <a:p>
            <a:pPr>
              <a:spcBef>
                <a:spcPts val="1600"/>
              </a:spcBef>
            </a:pPr>
            <a:r>
              <a:rPr lang="en-US" sz="1400">
                <a:latin typeface="Figtree" pitchFamily="2" charset="0"/>
              </a:rPr>
              <a:t>– YOU CAN ALSO ADD AN ATTRIBUTION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AC53B1D-D70F-D560-630E-77F09481F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17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81664-DC63-B632-A8F2-1F1FC9DC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This is a headline for this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C7660-A4EF-327F-4166-CBBB33CE1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2200" b="1" dirty="0">
                <a:solidFill>
                  <a:schemeClr val="accent4"/>
                </a:solidFill>
                <a:latin typeface="Figtree SemiBold" pitchFamily="2" charset="0"/>
              </a:rPr>
              <a:t>THIS IS A SUBHEAD – 22 pt</a:t>
            </a:r>
          </a:p>
          <a:p>
            <a:r>
              <a:rPr lang="en-US" b="1" dirty="0">
                <a:latin typeface="Figtree SemiBold" pitchFamily="2" charset="0"/>
              </a:rPr>
              <a:t>Body Copy placeholder information – 18pt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List information 1 – 18pt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List information 2 – 18pt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List information 3 – 18pt</a:t>
            </a:r>
          </a:p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F1F0F99-2264-F83C-5B47-C9241A2A5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006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21B48-A7D4-4C40-0B2B-BFE2194D0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This is a headline for this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4BB184-B80C-9A18-EA76-BE7A5D7E2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This is example text. It’s base size should be 18pt; it can be size a bit larger, if needed.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03CC-6CE8-C510-FD66-42DC4487A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20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13C3735-B73F-9384-64C0-2219C4A00C77}"/>
              </a:ext>
            </a:extLst>
          </p:cNvPr>
          <p:cNvCxnSpPr>
            <a:cxnSpLocks/>
          </p:cNvCxnSpPr>
          <p:nvPr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D89814A-63B5-1F69-E8D6-DFD129F8270C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18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IAA 2025">
      <a:dk1>
        <a:srgbClr val="000000"/>
      </a:dk1>
      <a:lt1>
        <a:srgbClr val="FFFFFF"/>
      </a:lt1>
      <a:dk2>
        <a:srgbClr val="1A3C6D"/>
      </a:dk2>
      <a:lt2>
        <a:srgbClr val="E8E8E8"/>
      </a:lt2>
      <a:accent1>
        <a:srgbClr val="1A3C6D"/>
      </a:accent1>
      <a:accent2>
        <a:srgbClr val="3079A7"/>
      </a:accent2>
      <a:accent3>
        <a:srgbClr val="742A88"/>
      </a:accent3>
      <a:accent4>
        <a:srgbClr val="F1B82C"/>
      </a:accent4>
      <a:accent5>
        <a:srgbClr val="65A602"/>
      </a:accent5>
      <a:accent6>
        <a:srgbClr val="CC4100"/>
      </a:accent6>
      <a:hlink>
        <a:srgbClr val="3079A7"/>
      </a:hlink>
      <a:folHlink>
        <a:srgbClr val="3079A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05d83ceaa0bbd2e3bc716e6e66bd857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3d69fe45253d5ff147bb69036b756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CFD3FA-BFE6-4908-A060-27D027CDB5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DEB358-C13F-4883-9886-9038AEB45426}">
  <ds:schemaRefs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610F157-3A99-4151-8545-79AE4C84FB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2911</TotalTime>
  <Words>1447</Words>
  <Application>Microsoft Office PowerPoint</Application>
  <PresentationFormat>Widescreen</PresentationFormat>
  <Paragraphs>173</Paragraphs>
  <Slides>20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Aptos</vt:lpstr>
      <vt:lpstr>Arial</vt:lpstr>
      <vt:lpstr>Calibri</vt:lpstr>
      <vt:lpstr>Cambria Math</vt:lpstr>
      <vt:lpstr>DM Sans</vt:lpstr>
      <vt:lpstr>Figtree</vt:lpstr>
      <vt:lpstr>Figtree Light</vt:lpstr>
      <vt:lpstr>Figtree Medium</vt:lpstr>
      <vt:lpstr>Figtree SemiBold</vt:lpstr>
      <vt:lpstr>Merriweather</vt:lpstr>
      <vt:lpstr>Office Theme</vt:lpstr>
      <vt:lpstr> Characterizing Aerospace Cost Estimate Dynamics: Distributional Metrics for Contextualizing Outcome Variability</vt:lpstr>
      <vt:lpstr>Presentation Information</vt:lpstr>
      <vt:lpstr>The Challenges of Cost Estimation</vt:lpstr>
      <vt:lpstr>PowerPoint Presentation</vt:lpstr>
      <vt:lpstr>Case Study: Space Shuttle Program (SSP)</vt:lpstr>
      <vt:lpstr>Traditional Metrics</vt:lpstr>
      <vt:lpstr>Distributional Metrics</vt:lpstr>
      <vt:lpstr>Measuring Spread</vt:lpstr>
      <vt:lpstr>Measuring Shape</vt:lpstr>
      <vt:lpstr>Measuring Risk (Data Proportions)</vt:lpstr>
      <vt:lpstr>Measuring Risk (Outlier Presence)</vt:lpstr>
      <vt:lpstr>Measuring Risk (Outlier Impacts)</vt:lpstr>
      <vt:lpstr>Traditional vs. Distributional</vt:lpstr>
      <vt:lpstr>Distributional metrics offer a more nuanced view</vt:lpstr>
      <vt:lpstr>Summary of Findings</vt:lpstr>
      <vt:lpstr>PowerPoint Presentation</vt:lpstr>
      <vt:lpstr>This is a slide that can divide sections</vt:lpstr>
      <vt:lpstr>PowerPoint Presentation</vt:lpstr>
      <vt:lpstr>This is a headline for this slide</vt:lpstr>
      <vt:lpstr>This is a headline for this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Somer Blackwell</dc:creator>
  <cp:lastModifiedBy>Karl R</cp:lastModifiedBy>
  <cp:revision>33</cp:revision>
  <dcterms:created xsi:type="dcterms:W3CDTF">2025-03-03T19:36:00Z</dcterms:created>
  <dcterms:modified xsi:type="dcterms:W3CDTF">2026-01-13T15:29:28Z</dcterms:modified>
</cp:coreProperties>
</file>